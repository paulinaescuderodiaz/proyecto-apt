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slides/charts/chart3.xml" ContentType="application/vnd.openxmlformats-officedocument.drawingml.chart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2252f2df83483e" /><Relationship Type="http://schemas.openxmlformats.org/officeDocument/2006/relationships/extended-properties" Target="/docProps/app.xml" Id="R91649c21e29c4ca3" /><Relationship Type="http://schemas.openxmlformats.org/officeDocument/2006/relationships/officeDocument" Target="/ppt/presentation.xml" Id="R449e58caa38a4f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7c79686c7140c3"/>
  </p:sldMasterIdLst>
  <p:notesMasterIdLst>
    <p:notesMasterId xmlns:r="http://schemas.openxmlformats.org/officeDocument/2006/relationships" r:id="R7753c4e89bc34fc8"/>
  </p:notesMasterIdLst>
  <p:sldIdLst>
    <p:sldId xmlns:r="http://schemas.openxmlformats.org/officeDocument/2006/relationships" id="256" r:id="R25e000f14ea546ac"/>
    <p:sldId xmlns:r="http://schemas.openxmlformats.org/officeDocument/2006/relationships" id="257" r:id="Ra25aa28061324c3d"/>
    <p:sldId xmlns:r="http://schemas.openxmlformats.org/officeDocument/2006/relationships" id="258" r:id="R177ab42857bd4648"/>
    <p:sldId xmlns:r="http://schemas.openxmlformats.org/officeDocument/2006/relationships" id="259" r:id="R2a55572ff09241ff"/>
    <p:sldId xmlns:r="http://schemas.openxmlformats.org/officeDocument/2006/relationships" id="260" r:id="Rfc10c64ca5b24254"/>
    <p:sldId xmlns:r="http://schemas.openxmlformats.org/officeDocument/2006/relationships" id="261" r:id="R1aa37969f5374672"/>
    <p:sldId xmlns:r="http://schemas.openxmlformats.org/officeDocument/2006/relationships" id="262" r:id="Ra6fc17ce1e2343d6"/>
    <p:sldId xmlns:r="http://schemas.openxmlformats.org/officeDocument/2006/relationships" id="263" r:id="Rd8f85139472340e2"/>
    <p:sldId xmlns:r="http://schemas.openxmlformats.org/officeDocument/2006/relationships" id="264" r:id="R3155c0adbf7a4192"/>
    <p:sldId xmlns:r="http://schemas.openxmlformats.org/officeDocument/2006/relationships" id="265" r:id="R5d41c0339ff74e2f"/>
    <p:sldId xmlns:r="http://schemas.openxmlformats.org/officeDocument/2006/relationships" id="266" r:id="Reb322681dae44a63"/>
    <p:sldId xmlns:r="http://schemas.openxmlformats.org/officeDocument/2006/relationships" id="267" r:id="Rcaf6afc908a44854"/>
    <p:sldId xmlns:r="http://schemas.openxmlformats.org/officeDocument/2006/relationships" id="268" r:id="Rfde4c25ec56d4cc0"/>
    <p:sldId xmlns:r="http://schemas.openxmlformats.org/officeDocument/2006/relationships" id="269" r:id="Rd611a3f664ed4f21"/>
    <p:sldId xmlns:r="http://schemas.openxmlformats.org/officeDocument/2006/relationships" id="270" r:id="Ra82351ec9c554c07"/>
    <p:sldId xmlns:r="http://schemas.openxmlformats.org/officeDocument/2006/relationships" id="271" r:id="Rf35963d42b1b4a2f"/>
    <p:sldId xmlns:r="http://schemas.openxmlformats.org/officeDocument/2006/relationships" id="272" r:id="R77d0e35d6bbb40cc"/>
    <p:sldId xmlns:r="http://schemas.openxmlformats.org/officeDocument/2006/relationships" id="273" r:id="R2073a33be2fa47ca"/>
    <p:sldId xmlns:r="http://schemas.openxmlformats.org/officeDocument/2006/relationships" id="274" r:id="Rd93c8ddae6064bf2"/>
    <p:sldId xmlns:r="http://schemas.openxmlformats.org/officeDocument/2006/relationships" id="275" r:id="R2b0882fd97b54e1d"/>
    <p:sldId xmlns:r="http://schemas.openxmlformats.org/officeDocument/2006/relationships" id="276" r:id="R661225986814436a"/>
    <p:sldId xmlns:r="http://schemas.openxmlformats.org/officeDocument/2006/relationships" id="277" r:id="Rd4e6f77c96da479b"/>
    <p:sldId xmlns:r="http://schemas.openxmlformats.org/officeDocument/2006/relationships" id="278" r:id="Rabd1a33cecd84a86"/>
    <p:sldId xmlns:r="http://schemas.openxmlformats.org/officeDocument/2006/relationships" id="279" r:id="Rb6f0b93b98bf46aa"/>
    <p:sldId xmlns:r="http://schemas.openxmlformats.org/officeDocument/2006/relationships" id="280" r:id="Re38d21f0103b48dc"/>
    <p:sldId xmlns:r="http://schemas.openxmlformats.org/officeDocument/2006/relationships" id="281" r:id="R5332d1c9d188488d"/>
    <p:sldId xmlns:r="http://schemas.openxmlformats.org/officeDocument/2006/relationships" id="282" r:id="R519d392e35da48b9"/>
    <p:sldId xmlns:r="http://schemas.openxmlformats.org/officeDocument/2006/relationships" id="283" r:id="Rd59b66a8aaee45d5"/>
    <p:sldId xmlns:r="http://schemas.openxmlformats.org/officeDocument/2006/relationships" id="284" r:id="R509f360368864692"/>
    <p:sldId xmlns:r="http://schemas.openxmlformats.org/officeDocument/2006/relationships" id="285" r:id="R5e1a6e699ffe45d4"/>
    <p:sldId xmlns:r="http://schemas.openxmlformats.org/officeDocument/2006/relationships" id="286" r:id="R20366d4a0efe4611"/>
    <p:sldId xmlns:r="http://schemas.openxmlformats.org/officeDocument/2006/relationships" id="287" r:id="R2c2665d4925048b8"/>
    <p:sldId xmlns:r="http://schemas.openxmlformats.org/officeDocument/2006/relationships" id="288" r:id="Rb9aa7da66e694eb7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21002af2584ffb" /><Relationship Type="http://schemas.openxmlformats.org/officeDocument/2006/relationships/slideMaster" Target="/ppt/slideMasters/slideMaster1.xml" Id="R407c79686c7140c3" /><Relationship Type="http://schemas.openxmlformats.org/officeDocument/2006/relationships/notesMaster" Target="/ppt/notesMasters/notesMaster1.xml" Id="R7753c4e89bc34fc8" /><Relationship Type="http://schemas.openxmlformats.org/officeDocument/2006/relationships/presProps" Target="/ppt/presProps.xml" Id="Rbf726969e7e54aba" /><Relationship Type="http://schemas.openxmlformats.org/officeDocument/2006/relationships/viewProps" Target="/ppt/viewProps.xml" Id="Rb1bd82a9613e4175" /><Relationship Type="http://schemas.openxmlformats.org/officeDocument/2006/relationships/tableStyles" Target="/ppt/tableStyles.xml" Id="R47ea1306f26f44c8" /><Relationship Type="http://schemas.openxmlformats.org/officeDocument/2006/relationships/slide" Target="/ppt/slides/slide1.xml" Id="R25e000f14ea546ac" /><Relationship Type="http://schemas.openxmlformats.org/officeDocument/2006/relationships/slide" Target="/ppt/slides/slide2.xml" Id="Ra25aa28061324c3d" /><Relationship Type="http://schemas.openxmlformats.org/officeDocument/2006/relationships/slide" Target="/ppt/slides/slide3.xml" Id="R177ab42857bd4648" /><Relationship Type="http://schemas.openxmlformats.org/officeDocument/2006/relationships/slide" Target="/ppt/slides/slide4.xml" Id="R2a55572ff09241ff" /><Relationship Type="http://schemas.openxmlformats.org/officeDocument/2006/relationships/slide" Target="/ppt/slides/slide5.xml" Id="Rfc10c64ca5b24254" /><Relationship Type="http://schemas.openxmlformats.org/officeDocument/2006/relationships/slide" Target="/ppt/slides/slide6.xml" Id="R1aa37969f5374672" /><Relationship Type="http://schemas.openxmlformats.org/officeDocument/2006/relationships/slide" Target="/ppt/slides/slide7.xml" Id="Ra6fc17ce1e2343d6" /><Relationship Type="http://schemas.openxmlformats.org/officeDocument/2006/relationships/slide" Target="/ppt/slides/slide8.xml" Id="Rd8f85139472340e2" /><Relationship Type="http://schemas.openxmlformats.org/officeDocument/2006/relationships/slide" Target="/ppt/slides/slide9.xml" Id="R3155c0adbf7a4192" /><Relationship Type="http://schemas.openxmlformats.org/officeDocument/2006/relationships/slide" Target="/ppt/slides/slide10.xml" Id="R5d41c0339ff74e2f" /><Relationship Type="http://schemas.openxmlformats.org/officeDocument/2006/relationships/slide" Target="/ppt/slides/slide11.xml" Id="Reb322681dae44a63" /><Relationship Type="http://schemas.openxmlformats.org/officeDocument/2006/relationships/slide" Target="/ppt/slides/slide12.xml" Id="Rcaf6afc908a44854" /><Relationship Type="http://schemas.openxmlformats.org/officeDocument/2006/relationships/slide" Target="/ppt/slides/slide13.xml" Id="Rfde4c25ec56d4cc0" /><Relationship Type="http://schemas.openxmlformats.org/officeDocument/2006/relationships/slide" Target="/ppt/slides/slide14.xml" Id="Rd611a3f664ed4f21" /><Relationship Type="http://schemas.openxmlformats.org/officeDocument/2006/relationships/slide" Target="/ppt/slides/slide15.xml" Id="Ra82351ec9c554c07" /><Relationship Type="http://schemas.openxmlformats.org/officeDocument/2006/relationships/slide" Target="/ppt/slides/slide16.xml" Id="Rf35963d42b1b4a2f" /><Relationship Type="http://schemas.openxmlformats.org/officeDocument/2006/relationships/slide" Target="/ppt/slides/slide17.xml" Id="R77d0e35d6bbb40cc" /><Relationship Type="http://schemas.openxmlformats.org/officeDocument/2006/relationships/slide" Target="/ppt/slides/slide18.xml" Id="R2073a33be2fa47ca" /><Relationship Type="http://schemas.openxmlformats.org/officeDocument/2006/relationships/slide" Target="/ppt/slides/slide19.xml" Id="Rd93c8ddae6064bf2" /><Relationship Type="http://schemas.openxmlformats.org/officeDocument/2006/relationships/slide" Target="/ppt/slides/slide20.xml" Id="R2b0882fd97b54e1d" /><Relationship Type="http://schemas.openxmlformats.org/officeDocument/2006/relationships/slide" Target="/ppt/slides/slide21.xml" Id="R661225986814436a" /><Relationship Type="http://schemas.openxmlformats.org/officeDocument/2006/relationships/slide" Target="/ppt/slides/slide22.xml" Id="Rd4e6f77c96da479b" /><Relationship Type="http://schemas.openxmlformats.org/officeDocument/2006/relationships/slide" Target="/ppt/slides/slide23.xml" Id="Rabd1a33cecd84a86" /><Relationship Type="http://schemas.openxmlformats.org/officeDocument/2006/relationships/slide" Target="/ppt/slides/slide24.xml" Id="Rb6f0b93b98bf46aa" /><Relationship Type="http://schemas.openxmlformats.org/officeDocument/2006/relationships/slide" Target="/ppt/slides/slide25.xml" Id="Re38d21f0103b48dc" /><Relationship Type="http://schemas.openxmlformats.org/officeDocument/2006/relationships/slide" Target="/ppt/slides/slide26.xml" Id="R5332d1c9d188488d" /><Relationship Type="http://schemas.openxmlformats.org/officeDocument/2006/relationships/slide" Target="/ppt/slides/slide27.xml" Id="R519d392e35da48b9" /><Relationship Type="http://schemas.openxmlformats.org/officeDocument/2006/relationships/slide" Target="/ppt/slides/slide28.xml" Id="Rd59b66a8aaee45d5" /><Relationship Type="http://schemas.openxmlformats.org/officeDocument/2006/relationships/slide" Target="/ppt/slides/slide29.xml" Id="R509f360368864692" /><Relationship Type="http://schemas.openxmlformats.org/officeDocument/2006/relationships/slide" Target="/ppt/slides/slide30.xml" Id="R5e1a6e699ffe45d4" /><Relationship Type="http://schemas.openxmlformats.org/officeDocument/2006/relationships/slide" Target="/ppt/slides/slide31.xml" Id="R20366d4a0efe4611" /><Relationship Type="http://schemas.openxmlformats.org/officeDocument/2006/relationships/slide" Target="/ppt/slides/slide32.xml" Id="R2c2665d4925048b8" /><Relationship Type="http://schemas.openxmlformats.org/officeDocument/2006/relationships/slide" Target="/ppt/slides/slide33.xml" Id="Rb9aa7da66e69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b14e2d86d34b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ebeb535ac4909" /><Relationship Type="http://schemas.openxmlformats.org/officeDocument/2006/relationships/notesMaster" Target="/ppt/notesMasters/notesMaster1.xml" Id="R0cdb439b0b4e42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dc2f74c3546d0" /><Relationship Type="http://schemas.openxmlformats.org/officeDocument/2006/relationships/notesMaster" Target="/ppt/notesMasters/notesMaster1.xml" Id="R97ae7cd5793d46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ba7822877142a7" /><Relationship Type="http://schemas.openxmlformats.org/officeDocument/2006/relationships/notesMaster" Target="/ppt/notesMasters/notesMaster1.xml" Id="R726a4e9a569543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8e87b9d3584cef" /><Relationship Type="http://schemas.openxmlformats.org/officeDocument/2006/relationships/notesMaster" Target="/ppt/notesMasters/notesMaster1.xml" Id="R53714378dd9f49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c4b40aba14498b" /><Relationship Type="http://schemas.openxmlformats.org/officeDocument/2006/relationships/notesMaster" Target="/ppt/notesMasters/notesMaster1.xml" Id="R5acba586c97649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1821d3df024d4e" /><Relationship Type="http://schemas.openxmlformats.org/officeDocument/2006/relationships/notesMaster" Target="/ppt/notesMasters/notesMaster1.xml" Id="R03a39ee001b14e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f9b00d0a1d442d" /><Relationship Type="http://schemas.openxmlformats.org/officeDocument/2006/relationships/notesMaster" Target="/ppt/notesMasters/notesMaster1.xml" Id="R8fa652d039544e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bae65691724b85" /><Relationship Type="http://schemas.openxmlformats.org/officeDocument/2006/relationships/notesMaster" Target="/ppt/notesMasters/notesMaster1.xml" Id="R0b70c12f0c914b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968901215e4790" /><Relationship Type="http://schemas.openxmlformats.org/officeDocument/2006/relationships/notesMaster" Target="/ppt/notesMasters/notesMaster1.xml" Id="Re3086a73e78846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dce431774445f4" /><Relationship Type="http://schemas.openxmlformats.org/officeDocument/2006/relationships/notesMaster" Target="/ppt/notesMasters/notesMaster1.xml" Id="R1bc86a3b48c247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943370dd3e45a1" /><Relationship Type="http://schemas.openxmlformats.org/officeDocument/2006/relationships/notesMaster" Target="/ppt/notesMasters/notesMaster1.xml" Id="Re3f0456987b143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cc9ae85e204444" /><Relationship Type="http://schemas.openxmlformats.org/officeDocument/2006/relationships/notesMaster" Target="/ppt/notesMasters/notesMaster1.xml" Id="R6e01d96d3e0443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27055b3384423e" /><Relationship Type="http://schemas.openxmlformats.org/officeDocument/2006/relationships/notesMaster" Target="/ppt/notesMasters/notesMaster1.xml" Id="Re5e088a05e7a4c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88e221bb7d459d" /><Relationship Type="http://schemas.openxmlformats.org/officeDocument/2006/relationships/notesMaster" Target="/ppt/notesMasters/notesMaster1.xml" Id="R2f2ede12b5e844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274d6c2ca44d83" /><Relationship Type="http://schemas.openxmlformats.org/officeDocument/2006/relationships/notesMaster" Target="/ppt/notesMasters/notesMaster1.xml" Id="Ra079c2b163d040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421ff2560d4fac" /><Relationship Type="http://schemas.openxmlformats.org/officeDocument/2006/relationships/notesMaster" Target="/ppt/notesMasters/notesMaster1.xml" Id="Rbb5274d7a7494b1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c38b404012a4ba4" /><Relationship Type="http://schemas.openxmlformats.org/officeDocument/2006/relationships/notesMaster" Target="/ppt/notesMasters/notesMaster1.xml" Id="Rba9b360d832544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9f194cb5494fed" /><Relationship Type="http://schemas.openxmlformats.org/officeDocument/2006/relationships/notesMaster" Target="/ppt/notesMasters/notesMaster1.xml" Id="Rec12732edb694b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28cae27a41469c" /><Relationship Type="http://schemas.openxmlformats.org/officeDocument/2006/relationships/notesMaster" Target="/ppt/notesMasters/notesMaster1.xml" Id="R4c8fa6318a1244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38fa50e95a42bb" /><Relationship Type="http://schemas.openxmlformats.org/officeDocument/2006/relationships/notesMaster" Target="/ppt/notesMasters/notesMaster1.xml" Id="Rbe2315c849bf4f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300da5cd1bb42aa" /><Relationship Type="http://schemas.openxmlformats.org/officeDocument/2006/relationships/notesMaster" Target="/ppt/notesMasters/notesMaster1.xml" Id="Rfacd85a010cf42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c7c986841c450b" /><Relationship Type="http://schemas.openxmlformats.org/officeDocument/2006/relationships/notesMaster" Target="/ppt/notesMasters/notesMaster1.xml" Id="R73c8c7be0ed2401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8980efb98845ff" /><Relationship Type="http://schemas.openxmlformats.org/officeDocument/2006/relationships/notesMaster" Target="/ppt/notesMasters/notesMaster1.xml" Id="R9f582c809a3c45a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774c7fd6224057" /><Relationship Type="http://schemas.openxmlformats.org/officeDocument/2006/relationships/notesMaster" Target="/ppt/notesMasters/notesMaster1.xml" Id="Rebb952e83c2642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f03937027134d42" /><Relationship Type="http://schemas.openxmlformats.org/officeDocument/2006/relationships/notesMaster" Target="/ppt/notesMasters/notesMaster1.xml" Id="R0bcf8412a5ef42d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6a3bf3c0deb4f10" /><Relationship Type="http://schemas.openxmlformats.org/officeDocument/2006/relationships/notesMaster" Target="/ppt/notesMasters/notesMaster1.xml" Id="Rb11478b429c1447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40a808443fb4b3a" /><Relationship Type="http://schemas.openxmlformats.org/officeDocument/2006/relationships/notesMaster" Target="/ppt/notesMasters/notesMaster1.xml" Id="Re1e16c19616b472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8a4e5f4a186433c" /><Relationship Type="http://schemas.openxmlformats.org/officeDocument/2006/relationships/notesMaster" Target="/ppt/notesMasters/notesMaster1.xml" Id="Ra282c905d1d34e0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2c0835a7ef6432b" /><Relationship Type="http://schemas.openxmlformats.org/officeDocument/2006/relationships/notesMaster" Target="/ppt/notesMasters/notesMaster1.xml" Id="R76ad9cfee73c499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2b01515614a4de6" /><Relationship Type="http://schemas.openxmlformats.org/officeDocument/2006/relationships/notesMaster" Target="/ppt/notesMasters/notesMaster1.xml" Id="R2cd6c0e1dde2484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e20af02f446454a" /><Relationship Type="http://schemas.openxmlformats.org/officeDocument/2006/relationships/notesMaster" Target="/ppt/notesMasters/notesMaster1.xml" Id="R85d368ce19d2468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7d89be5c7bb4026" /><Relationship Type="http://schemas.openxmlformats.org/officeDocument/2006/relationships/notesMaster" Target="/ppt/notesMasters/notesMaster1.xml" Id="Rf182ec3c3459476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84b023594c54c77" /><Relationship Type="http://schemas.openxmlformats.org/officeDocument/2006/relationships/notesMaster" Target="/ppt/notesMasters/notesMaster1.xml" Id="R1f34c3f891a94e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09539a45a440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28d53e0d974b2d" /><Relationship Type="http://schemas.openxmlformats.org/officeDocument/2006/relationships/slideLayout" Target="/ppt/slideLayouts/slideLayout1.xml" Id="Re768a497dbd045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8a497dbd045a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2ccf49ec84020" /><Relationship Type="http://schemas.openxmlformats.org/officeDocument/2006/relationships/image" Target="/ppt/media/image.png" Id="R9d52e432f92f46c6" /><Relationship Type="http://schemas.openxmlformats.org/officeDocument/2006/relationships/image" Target="/ppt/media/image2.png" Id="R92c248d3b3e24e2a" /><Relationship Type="http://schemas.openxmlformats.org/officeDocument/2006/relationships/image" Target="/ppt/media/image3.png" Id="Rf26f13344f974ebf" /><Relationship Type="http://schemas.openxmlformats.org/officeDocument/2006/relationships/image" Target="/ppt/media/image4.png" Id="R7034022055c44a11" /><Relationship Type="http://schemas.openxmlformats.org/officeDocument/2006/relationships/image" Target="/ppt/media/image5.png" Id="R769d8b4758964a94" /><Relationship Type="http://schemas.openxmlformats.org/officeDocument/2006/relationships/notesSlide" Target="/ppt/notesSlides/notesSlide1.xml" Id="R330649dc02a340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37a6a1ab2454e" /><Relationship Type="http://schemas.openxmlformats.org/officeDocument/2006/relationships/image" Target="/ppt/media/image.png" Id="Ra579c2e7e9fa4fe8" /><Relationship Type="http://schemas.openxmlformats.org/officeDocument/2006/relationships/image" Target="/ppt/media/image2.png" Id="Ra79c199ebf3a4dda" /><Relationship Type="http://schemas.openxmlformats.org/officeDocument/2006/relationships/image" Target="/ppt/media/image3.png" Id="R185f8bb430cd48fd" /><Relationship Type="http://schemas.openxmlformats.org/officeDocument/2006/relationships/image" Target="/ppt/media/image4.png" Id="Rc9b0983e8fb143dd" /><Relationship Type="http://schemas.openxmlformats.org/officeDocument/2006/relationships/notesSlide" Target="/ppt/notesSlides/notesSlide2.xml" Id="Rbcb28c85d08c43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0763e90194b62" /><Relationship Type="http://schemas.openxmlformats.org/officeDocument/2006/relationships/image" Target="/ppt/media/image.png" Id="R4695b1f8291746e4" /><Relationship Type="http://schemas.openxmlformats.org/officeDocument/2006/relationships/image" Target="/ppt/media/image2.png" Id="Rcb7ba5fd0b53409c" /><Relationship Type="http://schemas.openxmlformats.org/officeDocument/2006/relationships/image" Target="/ppt/media/image3.png" Id="R0d2b306e08a74871" /><Relationship Type="http://schemas.openxmlformats.org/officeDocument/2006/relationships/image" Target="/ppt/media/image4.png" Id="R0c66980b42794b6d" /><Relationship Type="http://schemas.openxmlformats.org/officeDocument/2006/relationships/notesSlide" Target="/ppt/notesSlides/notesSlide3.xml" Id="R6ad89ae141b74d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c87093bd247b4" /><Relationship Type="http://schemas.openxmlformats.org/officeDocument/2006/relationships/image" Target="/ppt/media/image.png" Id="Rb4535ee84d854766" /><Relationship Type="http://schemas.openxmlformats.org/officeDocument/2006/relationships/image" Target="/ppt/media/image2.png" Id="R8e4d5e2dc14a4ac0" /><Relationship Type="http://schemas.openxmlformats.org/officeDocument/2006/relationships/image" Target="/ppt/media/image3.png" Id="R99aedb5d9e9946a0" /><Relationship Type="http://schemas.openxmlformats.org/officeDocument/2006/relationships/image" Target="/ppt/media/image4.png" Id="R25c43defc4c24f70" /><Relationship Type="http://schemas.openxmlformats.org/officeDocument/2006/relationships/notesSlide" Target="/ppt/notesSlides/notesSlide4.xml" Id="Rb4f0b80f736643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419e0d13946c1" /><Relationship Type="http://schemas.openxmlformats.org/officeDocument/2006/relationships/image" Target="/ppt/media/image.png" Id="R2fef179c867f4f71" /><Relationship Type="http://schemas.openxmlformats.org/officeDocument/2006/relationships/image" Target="/ppt/media/image2.png" Id="R6c6f902ed8884fd0" /><Relationship Type="http://schemas.openxmlformats.org/officeDocument/2006/relationships/image" Target="/ppt/media/image3.png" Id="R9982e7435aab4922" /><Relationship Type="http://schemas.openxmlformats.org/officeDocument/2006/relationships/image" Target="/ppt/media/image4.png" Id="R07af45cfbaa14ebf" /><Relationship Type="http://schemas.openxmlformats.org/officeDocument/2006/relationships/notesSlide" Target="/ppt/notesSlides/notesSlide5.xml" Id="R4c0f9f39cf5e4a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f606bb1f84ade" /><Relationship Type="http://schemas.openxmlformats.org/officeDocument/2006/relationships/image" Target="/ppt/media/image.png" Id="R3cc5149e84b24c94" /><Relationship Type="http://schemas.openxmlformats.org/officeDocument/2006/relationships/image" Target="/ppt/media/image2.png" Id="Ra5dfb4ab73044f07" /><Relationship Type="http://schemas.openxmlformats.org/officeDocument/2006/relationships/image" Target="/ppt/media/image3.png" Id="R3e978d7f1bad40ca" /><Relationship Type="http://schemas.openxmlformats.org/officeDocument/2006/relationships/image" Target="/ppt/media/image4.png" Id="R34135480adbf412d" /><Relationship Type="http://schemas.openxmlformats.org/officeDocument/2006/relationships/notesSlide" Target="/ppt/notesSlides/notesSlide6.xml" Id="Rc13b8169f74843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898bc33904622" /><Relationship Type="http://schemas.openxmlformats.org/officeDocument/2006/relationships/image" Target="/ppt/media/image.png" Id="R99d3e7840b5f4e05" /><Relationship Type="http://schemas.openxmlformats.org/officeDocument/2006/relationships/image" Target="/ppt/media/image2.png" Id="Rc240ae410ad746e4" /><Relationship Type="http://schemas.openxmlformats.org/officeDocument/2006/relationships/image" Target="/ppt/media/image3.png" Id="R062272f3c68c49c0" /><Relationship Type="http://schemas.openxmlformats.org/officeDocument/2006/relationships/image" Target="/ppt/media/image4.png" Id="Rb7acba1abe204f4e" /><Relationship Type="http://schemas.openxmlformats.org/officeDocument/2006/relationships/notesSlide" Target="/ppt/notesSlides/notesSlide7.xml" Id="R6bd145c32fda4a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3ae6a93924105" /><Relationship Type="http://schemas.openxmlformats.org/officeDocument/2006/relationships/image" Target="/ppt/media/image.png" Id="R081d1f3a9d1d42aa" /><Relationship Type="http://schemas.openxmlformats.org/officeDocument/2006/relationships/image" Target="/ppt/media/image2.png" Id="Rb1342f53bdd64205" /><Relationship Type="http://schemas.openxmlformats.org/officeDocument/2006/relationships/image" Target="/ppt/media/image3.png" Id="Rb60478fd9ebb40a2" /><Relationship Type="http://schemas.openxmlformats.org/officeDocument/2006/relationships/image" Target="/ppt/media/image4.png" Id="R8576b51c6afb43b6" /><Relationship Type="http://schemas.openxmlformats.org/officeDocument/2006/relationships/notesSlide" Target="/ppt/notesSlides/notesSlide8.xml" Id="R81bbf62664f848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e513e9959470a" /><Relationship Type="http://schemas.openxmlformats.org/officeDocument/2006/relationships/image" Target="/ppt/media/image.png" Id="R18e62f0bef3b41f5" /><Relationship Type="http://schemas.openxmlformats.org/officeDocument/2006/relationships/image" Target="/ppt/media/image2.png" Id="R97b98d2fd1174185" /><Relationship Type="http://schemas.openxmlformats.org/officeDocument/2006/relationships/image" Target="/ppt/media/image3.png" Id="R504cf2527c5b4d71" /><Relationship Type="http://schemas.openxmlformats.org/officeDocument/2006/relationships/image" Target="/ppt/media/image4.png" Id="Ra8861d77f4bf41f6" /><Relationship Type="http://schemas.openxmlformats.org/officeDocument/2006/relationships/notesSlide" Target="/ppt/notesSlides/notesSlide9.xml" Id="Rc5396376d21a43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fca1f09ca4884" /><Relationship Type="http://schemas.openxmlformats.org/officeDocument/2006/relationships/image" Target="/ppt/media/image.png" Id="R97efaa4b791a4a71" /><Relationship Type="http://schemas.openxmlformats.org/officeDocument/2006/relationships/image" Target="/ppt/media/image2.png" Id="R086ecf87186b4890" /><Relationship Type="http://schemas.openxmlformats.org/officeDocument/2006/relationships/image" Target="/ppt/media/image3.png" Id="R6ac82302691146f1" /><Relationship Type="http://schemas.openxmlformats.org/officeDocument/2006/relationships/image" Target="/ppt/media/image4.png" Id="R354700103a564d45" /><Relationship Type="http://schemas.openxmlformats.org/officeDocument/2006/relationships/notesSlide" Target="/ppt/notesSlides/notesSlide10.xml" Id="Rbd77c0875fbf46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ae94bccd14458" /><Relationship Type="http://schemas.openxmlformats.org/officeDocument/2006/relationships/image" Target="/ppt/media/image.png" Id="R105d91bdf1e549b2" /><Relationship Type="http://schemas.openxmlformats.org/officeDocument/2006/relationships/image" Target="/ppt/media/image2.png" Id="R077a705a00a54192" /><Relationship Type="http://schemas.openxmlformats.org/officeDocument/2006/relationships/image" Target="/ppt/media/image3.png" Id="R01e8daea5af54d88" /><Relationship Type="http://schemas.openxmlformats.org/officeDocument/2006/relationships/image" Target="/ppt/media/image4.png" Id="R1944574c14454fcd" /><Relationship Type="http://schemas.openxmlformats.org/officeDocument/2006/relationships/notesSlide" Target="/ppt/notesSlides/notesSlide11.xml" Id="R80732bfefd4a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05b4920eb4978" /><Relationship Type="http://schemas.openxmlformats.org/officeDocument/2006/relationships/image" Target="/ppt/media/image.png" Id="Rf192ae5fd6e24524" /><Relationship Type="http://schemas.openxmlformats.org/officeDocument/2006/relationships/image" Target="/ppt/media/image2.png" Id="R50be383cec124b70" /><Relationship Type="http://schemas.openxmlformats.org/officeDocument/2006/relationships/image" Target="/ppt/media/image3.png" Id="Re4a625d73b034c5c" /><Relationship Type="http://schemas.openxmlformats.org/officeDocument/2006/relationships/image" Target="/ppt/media/image4.png" Id="R56a3cf5e34bd49e4" /><Relationship Type="http://schemas.openxmlformats.org/officeDocument/2006/relationships/notesSlide" Target="/ppt/notesSlides/notesSlide12.xml" Id="R159d10159a0548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0a24b3ee84898" /><Relationship Type="http://schemas.openxmlformats.org/officeDocument/2006/relationships/image" Target="/ppt/media/image.png" Id="R5c590847cf6e4ff8" /><Relationship Type="http://schemas.openxmlformats.org/officeDocument/2006/relationships/image" Target="/ppt/media/image2.png" Id="Re3d728ef93184364" /><Relationship Type="http://schemas.openxmlformats.org/officeDocument/2006/relationships/image" Target="/ppt/media/image3.png" Id="R9107a7e4bc724224" /><Relationship Type="http://schemas.openxmlformats.org/officeDocument/2006/relationships/image" Target="/ppt/media/image4.png" Id="R15a72e09067844ef" /><Relationship Type="http://schemas.openxmlformats.org/officeDocument/2006/relationships/notesSlide" Target="/ppt/notesSlides/notesSlide13.xml" Id="Rb25d2d64f50c47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ee073f783464e" /><Relationship Type="http://schemas.openxmlformats.org/officeDocument/2006/relationships/image" Target="/ppt/media/image.png" Id="R071b1ad8600c44cd" /><Relationship Type="http://schemas.openxmlformats.org/officeDocument/2006/relationships/image" Target="/ppt/media/image2.png" Id="R1dbb8716c6d646e4" /><Relationship Type="http://schemas.openxmlformats.org/officeDocument/2006/relationships/image" Target="/ppt/media/image3.png" Id="Rc2725433089f4217" /><Relationship Type="http://schemas.openxmlformats.org/officeDocument/2006/relationships/image" Target="/ppt/media/image4.png" Id="Rca362fd4d92648a9" /><Relationship Type="http://schemas.openxmlformats.org/officeDocument/2006/relationships/notesSlide" Target="/ppt/notesSlides/notesSlide14.xml" Id="R1b209f0289c84f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3e8532e1241ed" /><Relationship Type="http://schemas.openxmlformats.org/officeDocument/2006/relationships/image" Target="/ppt/media/image.png" Id="Re3c2a35fc5fb46e5" /><Relationship Type="http://schemas.openxmlformats.org/officeDocument/2006/relationships/image" Target="/ppt/media/image2.png" Id="R6d8aa645b406463d" /><Relationship Type="http://schemas.openxmlformats.org/officeDocument/2006/relationships/image" Target="/ppt/media/image3.png" Id="R9d149e1946a04768" /><Relationship Type="http://schemas.openxmlformats.org/officeDocument/2006/relationships/image" Target="/ppt/media/image4.png" Id="Rad89856037b74943" /><Relationship Type="http://schemas.openxmlformats.org/officeDocument/2006/relationships/image" Target="/ppt/media/image6.png" Id="Re071e686d7cc4e8a" /><Relationship Type="http://schemas.openxmlformats.org/officeDocument/2006/relationships/image" Target="/ppt/media/image7.png" Id="R71363793113942e2" /><Relationship Type="http://schemas.openxmlformats.org/officeDocument/2006/relationships/image" Target="/ppt/media/image8.png" Id="Rb04743362a4d42b1" /><Relationship Type="http://schemas.openxmlformats.org/officeDocument/2006/relationships/image" Target="/ppt/media/image9.png" Id="R3856f4b00dbf4c82" /><Relationship Type="http://schemas.openxmlformats.org/officeDocument/2006/relationships/notesSlide" Target="/ppt/notesSlides/notesSlide15.xml" Id="R3d45ad2e4aa740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bacb27f054317" /><Relationship Type="http://schemas.openxmlformats.org/officeDocument/2006/relationships/image" Target="/ppt/media/image.png" Id="Rf09abbe7c8f344cb" /><Relationship Type="http://schemas.openxmlformats.org/officeDocument/2006/relationships/image" Target="/ppt/media/image2.png" Id="R13fd68ac49b64e8f" /><Relationship Type="http://schemas.openxmlformats.org/officeDocument/2006/relationships/image" Target="/ppt/media/image3.png" Id="R39d358234bac4bc3" /><Relationship Type="http://schemas.openxmlformats.org/officeDocument/2006/relationships/image" Target="/ppt/media/image4.png" Id="R3f41c436fa0c4c96" /><Relationship Type="http://schemas.openxmlformats.org/officeDocument/2006/relationships/image" Target="/ppt/media/image10.png" Id="R4d06581203cc4e0b" /><Relationship Type="http://schemas.openxmlformats.org/officeDocument/2006/relationships/image" Target="/ppt/media/image11.png" Id="Rd9bcc32aaa484c3e" /><Relationship Type="http://schemas.openxmlformats.org/officeDocument/2006/relationships/image" Target="/ppt/media/image9.png" Id="R83fb1ac38c654345" /><Relationship Type="http://schemas.openxmlformats.org/officeDocument/2006/relationships/notesSlide" Target="/ppt/notesSlides/notesSlide16.xml" Id="R562f629ef2ab4e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981e17378466d" /><Relationship Type="http://schemas.openxmlformats.org/officeDocument/2006/relationships/image" Target="/ppt/media/image.png" Id="R328c9494677e4e7a" /><Relationship Type="http://schemas.openxmlformats.org/officeDocument/2006/relationships/image" Target="/ppt/media/image2.png" Id="R0601e257414e4aad" /><Relationship Type="http://schemas.openxmlformats.org/officeDocument/2006/relationships/image" Target="/ppt/media/image3.png" Id="Rc4aaa9ab44ee45ab" /><Relationship Type="http://schemas.openxmlformats.org/officeDocument/2006/relationships/image" Target="/ppt/media/image4.png" Id="Rd8aab845040d4dfb" /><Relationship Type="http://schemas.openxmlformats.org/officeDocument/2006/relationships/notesSlide" Target="/ppt/notesSlides/notesSlide17.xml" Id="R01cc3ab7354b4b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67e85b52b4a35" /><Relationship Type="http://schemas.openxmlformats.org/officeDocument/2006/relationships/image" Target="/ppt/media/image.png" Id="R66989647a4ac4dd1" /><Relationship Type="http://schemas.openxmlformats.org/officeDocument/2006/relationships/image" Target="/ppt/media/image2.png" Id="Rb663d54050a94594" /><Relationship Type="http://schemas.openxmlformats.org/officeDocument/2006/relationships/image" Target="/ppt/media/image3.png" Id="R17b749217b334801" /><Relationship Type="http://schemas.openxmlformats.org/officeDocument/2006/relationships/image" Target="/ppt/media/image4.png" Id="Rf474e13490b64744" /><Relationship Type="http://schemas.openxmlformats.org/officeDocument/2006/relationships/notesSlide" Target="/ppt/notesSlides/notesSlide18.xml" Id="Rdb560cfb3ba644d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6f045ff084b40" /><Relationship Type="http://schemas.openxmlformats.org/officeDocument/2006/relationships/image" Target="/ppt/media/image.png" Id="Rf2f6a3c106e74786" /><Relationship Type="http://schemas.openxmlformats.org/officeDocument/2006/relationships/image" Target="/ppt/media/image2.png" Id="R6f92db7f416e4f1c" /><Relationship Type="http://schemas.openxmlformats.org/officeDocument/2006/relationships/image" Target="/ppt/media/image3.png" Id="R84a5e4a8b62a4de6" /><Relationship Type="http://schemas.openxmlformats.org/officeDocument/2006/relationships/image" Target="/ppt/media/image4.png" Id="Re69fe13c9cf64514" /><Relationship Type="http://schemas.openxmlformats.org/officeDocument/2006/relationships/notesSlide" Target="/ppt/notesSlides/notesSlide19.xml" Id="R443d7bc1dd9f42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2a0c5ac034770" /><Relationship Type="http://schemas.openxmlformats.org/officeDocument/2006/relationships/image" Target="/ppt/media/image.png" Id="R12549c7c2d754bb2" /><Relationship Type="http://schemas.openxmlformats.org/officeDocument/2006/relationships/image" Target="/ppt/media/image2.png" Id="Re1106984ad0648f6" /><Relationship Type="http://schemas.openxmlformats.org/officeDocument/2006/relationships/image" Target="/ppt/media/image3.png" Id="R32df2222ddb94509" /><Relationship Type="http://schemas.openxmlformats.org/officeDocument/2006/relationships/image" Target="/ppt/media/image4.png" Id="R2814dc0074bd4f42" /><Relationship Type="http://schemas.openxmlformats.org/officeDocument/2006/relationships/notesSlide" Target="/ppt/notesSlides/notesSlide20.xml" Id="Rbb487bc19f7648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7723a3d06463b" /><Relationship Type="http://schemas.openxmlformats.org/officeDocument/2006/relationships/image" Target="/ppt/media/image.png" Id="R31f3d4e54bc641f4" /><Relationship Type="http://schemas.openxmlformats.org/officeDocument/2006/relationships/image" Target="/ppt/media/image2.png" Id="R2595868c54884a0c" /><Relationship Type="http://schemas.openxmlformats.org/officeDocument/2006/relationships/image" Target="/ppt/media/image3.png" Id="Rf57a42147c0648e6" /><Relationship Type="http://schemas.openxmlformats.org/officeDocument/2006/relationships/image" Target="/ppt/media/image4.png" Id="Rbf62b5950e744533" /><Relationship Type="http://schemas.openxmlformats.org/officeDocument/2006/relationships/chart" Target="/ppt/slides/charts/chart1.xml" Id="R68b5b068d9f24c9e" /><Relationship Type="http://schemas.openxmlformats.org/officeDocument/2006/relationships/notesSlide" Target="/ppt/notesSlides/notesSlide21.xml" Id="Rb83a76977fdb4c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b91b7cfcf4bc8" /><Relationship Type="http://schemas.openxmlformats.org/officeDocument/2006/relationships/image" Target="/ppt/media/image.png" Id="R96f692135a994a18" /><Relationship Type="http://schemas.openxmlformats.org/officeDocument/2006/relationships/image" Target="/ppt/media/image2.png" Id="R6156e65c17c94a46" /><Relationship Type="http://schemas.openxmlformats.org/officeDocument/2006/relationships/image" Target="/ppt/media/image3.png" Id="R977290b262294ccd" /><Relationship Type="http://schemas.openxmlformats.org/officeDocument/2006/relationships/image" Target="/ppt/media/image4.png" Id="Ra0b5526d8256496d" /><Relationship Type="http://schemas.openxmlformats.org/officeDocument/2006/relationships/notesSlide" Target="/ppt/notesSlides/notesSlide22.xml" Id="R83a088cfc5b748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476cee26740e9" /><Relationship Type="http://schemas.openxmlformats.org/officeDocument/2006/relationships/image" Target="/ppt/media/image.png" Id="R158063ed5711450d" /><Relationship Type="http://schemas.openxmlformats.org/officeDocument/2006/relationships/image" Target="/ppt/media/image2.png" Id="R823e69209bf443df" /><Relationship Type="http://schemas.openxmlformats.org/officeDocument/2006/relationships/image" Target="/ppt/media/image3.png" Id="Re5fe17a8222d4b74" /><Relationship Type="http://schemas.openxmlformats.org/officeDocument/2006/relationships/image" Target="/ppt/media/image4.png" Id="R5a807c7221dc476e" /><Relationship Type="http://schemas.openxmlformats.org/officeDocument/2006/relationships/notesSlide" Target="/ppt/notesSlides/notesSlide23.xml" Id="R6ae03d968e9046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251611607477d" /><Relationship Type="http://schemas.openxmlformats.org/officeDocument/2006/relationships/image" Target="/ppt/media/image.png" Id="Ra55202d5680a4ad1" /><Relationship Type="http://schemas.openxmlformats.org/officeDocument/2006/relationships/image" Target="/ppt/media/image2.png" Id="R8df2b7576bba4423" /><Relationship Type="http://schemas.openxmlformats.org/officeDocument/2006/relationships/image" Target="/ppt/media/image3.png" Id="Rda37b3b7af2c4aee" /><Relationship Type="http://schemas.openxmlformats.org/officeDocument/2006/relationships/image" Target="/ppt/media/image4.png" Id="R78571c0b2f2549d7" /><Relationship Type="http://schemas.openxmlformats.org/officeDocument/2006/relationships/notesSlide" Target="/ppt/notesSlides/notesSlide24.xml" Id="R42d8b4fa941249f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bde6df42340af" /><Relationship Type="http://schemas.openxmlformats.org/officeDocument/2006/relationships/image" Target="/ppt/media/image.png" Id="R48bdeaae43944dc0" /><Relationship Type="http://schemas.openxmlformats.org/officeDocument/2006/relationships/image" Target="/ppt/media/image2.png" Id="R762990274d874f98" /><Relationship Type="http://schemas.openxmlformats.org/officeDocument/2006/relationships/image" Target="/ppt/media/image3.png" Id="R632f9f417fc54f94" /><Relationship Type="http://schemas.openxmlformats.org/officeDocument/2006/relationships/image" Target="/ppt/media/image4.png" Id="Rd9d0c64c45d740d1" /><Relationship Type="http://schemas.openxmlformats.org/officeDocument/2006/relationships/chart" Target="/ppt/slides/charts/chart2.xml" Id="R8942cdd201a44c6b" /><Relationship Type="http://schemas.openxmlformats.org/officeDocument/2006/relationships/notesSlide" Target="/ppt/notesSlides/notesSlide25.xml" Id="Re7df63fd5e404c4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fbdcb370a4681" /><Relationship Type="http://schemas.openxmlformats.org/officeDocument/2006/relationships/image" Target="/ppt/media/image.png" Id="Rd1cc2ea23c9c4f8e" /><Relationship Type="http://schemas.openxmlformats.org/officeDocument/2006/relationships/image" Target="/ppt/media/image2.png" Id="R1add8b02c5b646ef" /><Relationship Type="http://schemas.openxmlformats.org/officeDocument/2006/relationships/image" Target="/ppt/media/image3.png" Id="R7a5eebf897644b0a" /><Relationship Type="http://schemas.openxmlformats.org/officeDocument/2006/relationships/image" Target="/ppt/media/image4.png" Id="R13025338cd7945d2" /><Relationship Type="http://schemas.openxmlformats.org/officeDocument/2006/relationships/notesSlide" Target="/ppt/notesSlides/notesSlide26.xml" Id="Rb2e4dc3d491f4c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a38eff2d34d17" /><Relationship Type="http://schemas.openxmlformats.org/officeDocument/2006/relationships/image" Target="/ppt/media/image.png" Id="R949efa93a4c14dd8" /><Relationship Type="http://schemas.openxmlformats.org/officeDocument/2006/relationships/image" Target="/ppt/media/image2.png" Id="Rf0036b7e59bb4baa" /><Relationship Type="http://schemas.openxmlformats.org/officeDocument/2006/relationships/image" Target="/ppt/media/image3.png" Id="Rd061743630d04ee6" /><Relationship Type="http://schemas.openxmlformats.org/officeDocument/2006/relationships/image" Target="/ppt/media/image4.png" Id="R35d7274752004be9" /><Relationship Type="http://schemas.openxmlformats.org/officeDocument/2006/relationships/notesSlide" Target="/ppt/notesSlides/notesSlide27.xml" Id="R4b2c92f2989d42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679de3b744839" /><Relationship Type="http://schemas.openxmlformats.org/officeDocument/2006/relationships/image" Target="/ppt/media/image.png" Id="Re02324623fea4e0b" /><Relationship Type="http://schemas.openxmlformats.org/officeDocument/2006/relationships/image" Target="/ppt/media/image2.png" Id="R38a5b30b70094b38" /><Relationship Type="http://schemas.openxmlformats.org/officeDocument/2006/relationships/image" Target="/ppt/media/image3.png" Id="R977b7e176a63408c" /><Relationship Type="http://schemas.openxmlformats.org/officeDocument/2006/relationships/image" Target="/ppt/media/image4.png" Id="R6987c7a139294323" /><Relationship Type="http://schemas.openxmlformats.org/officeDocument/2006/relationships/notesSlide" Target="/ppt/notesSlides/notesSlide28.xml" Id="Rfe629b6b0b5946f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800309ebe4170" /><Relationship Type="http://schemas.openxmlformats.org/officeDocument/2006/relationships/image" Target="/ppt/media/image.png" Id="Ra8a32a41cd8342bc" /><Relationship Type="http://schemas.openxmlformats.org/officeDocument/2006/relationships/image" Target="/ppt/media/image2.png" Id="Rea67d789b8f943d0" /><Relationship Type="http://schemas.openxmlformats.org/officeDocument/2006/relationships/image" Target="/ppt/media/image3.png" Id="R9a8d9086da4d4bfd" /><Relationship Type="http://schemas.openxmlformats.org/officeDocument/2006/relationships/image" Target="/ppt/media/image4.png" Id="Rf86c7ced7c1a4ed0" /><Relationship Type="http://schemas.openxmlformats.org/officeDocument/2006/relationships/chart" Target="/ppt/slides/charts/chart3.xml" Id="R47f296ab62e74dea" /><Relationship Type="http://schemas.openxmlformats.org/officeDocument/2006/relationships/notesSlide" Target="/ppt/notesSlides/notesSlide29.xml" Id="Rfa0adc73c851441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14c1fc8744185" /><Relationship Type="http://schemas.openxmlformats.org/officeDocument/2006/relationships/image" Target="/ppt/media/image.png" Id="R191d944f495d45f1" /><Relationship Type="http://schemas.openxmlformats.org/officeDocument/2006/relationships/image" Target="/ppt/media/image2.png" Id="Ra920aca0886043be" /><Relationship Type="http://schemas.openxmlformats.org/officeDocument/2006/relationships/image" Target="/ppt/media/image3.png" Id="R4152e8087f044d74" /><Relationship Type="http://schemas.openxmlformats.org/officeDocument/2006/relationships/image" Target="/ppt/media/image4.png" Id="R06f3f0aa94af4951" /><Relationship Type="http://schemas.openxmlformats.org/officeDocument/2006/relationships/notesSlide" Target="/ppt/notesSlides/notesSlide30.xml" Id="R885e18be92bb49e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caaab78444648" /><Relationship Type="http://schemas.openxmlformats.org/officeDocument/2006/relationships/image" Target="/ppt/media/image.png" Id="Rf1bfeff2c770477d" /><Relationship Type="http://schemas.openxmlformats.org/officeDocument/2006/relationships/image" Target="/ppt/media/image2.png" Id="R4f88e8a52eb94111" /><Relationship Type="http://schemas.openxmlformats.org/officeDocument/2006/relationships/image" Target="/ppt/media/image3.png" Id="Rda657ac00a494a59" /><Relationship Type="http://schemas.openxmlformats.org/officeDocument/2006/relationships/image" Target="/ppt/media/image4.png" Id="Rb55d812deb8f4eab" /><Relationship Type="http://schemas.openxmlformats.org/officeDocument/2006/relationships/notesSlide" Target="/ppt/notesSlides/notesSlide31.xml" Id="R9bd6dad1d21c4f1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6a14239c04176" /><Relationship Type="http://schemas.openxmlformats.org/officeDocument/2006/relationships/image" Target="/ppt/media/image.png" Id="R5b38ff375df04304" /><Relationship Type="http://schemas.openxmlformats.org/officeDocument/2006/relationships/image" Target="/ppt/media/image2.png" Id="Rf5f12d75c2374826" /><Relationship Type="http://schemas.openxmlformats.org/officeDocument/2006/relationships/image" Target="/ppt/media/image3.png" Id="R95079f21040f4d8d" /><Relationship Type="http://schemas.openxmlformats.org/officeDocument/2006/relationships/image" Target="/ppt/media/image4.png" Id="R9da8d55618154124" /><Relationship Type="http://schemas.openxmlformats.org/officeDocument/2006/relationships/notesSlide" Target="/ppt/notesSlides/notesSlide32.xml" Id="R662b5ea3b0054b8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824594aa54da3" /><Relationship Type="http://schemas.openxmlformats.org/officeDocument/2006/relationships/image" Target="/ppt/media/image.png" Id="R985dbddf906e497c" /><Relationship Type="http://schemas.openxmlformats.org/officeDocument/2006/relationships/image" Target="/ppt/media/image2.png" Id="R9b8af69c022a4dad" /><Relationship Type="http://schemas.openxmlformats.org/officeDocument/2006/relationships/image" Target="/ppt/media/image3.png" Id="R201d0b969471438a" /><Relationship Type="http://schemas.openxmlformats.org/officeDocument/2006/relationships/image" Target="/ppt/media/image4.png" Id="R228c07d0537741c9" /><Relationship Type="http://schemas.openxmlformats.org/officeDocument/2006/relationships/image" Target="/ppt/media/image5.png" Id="Re390bc1231f9471b" /><Relationship Type="http://schemas.openxmlformats.org/officeDocument/2006/relationships/notesSlide" Target="/ppt/notesSlides/notesSlide33.xml" Id="Rb2a6faa4f8c94f41" /></Relationships>
</file>

<file path=ppt/slides/charts/chart1.xml><?xml version="1.0" encoding="utf-8"?>
<c:chartSpace xmlns:c="http://schemas.openxmlformats.org/drawingml/2006/chart">
  <c:lang val="en-US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Trabajo ideal</c:v>
                </c:pt>
              </c:strCache>
            </c:strRef>
          </c:tx>
          <c:spPr>
            <a:ln xmlns:a="http://schemas.openxmlformats.org/drawingml/2006/main" w="22225">
              <a:solidFill>
                <a:srgbClr val="9FC2C9"/>
              </a:solidFill>
              <a:prstDash val="dash"/>
            </a:ln>
          </c:spPr>
          <c:marker>
            <c:symbol val="none"/>
          </c:marker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</c:v>
                </c:pt>
                <c:pt idx="1">
                  <c:v>24</c:v>
                </c:pt>
                <c:pt idx="2">
                  <c:v>20</c:v>
                </c:pt>
                <c:pt idx="3">
                  <c:v>16</c:v>
                </c:pt>
                <c:pt idx="4">
                  <c:v>12</c:v>
                </c:pt>
                <c:pt idx="5">
                  <c:v>8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Trabajo real</c:v>
                </c:pt>
              </c:strCache>
            </c:strRef>
          </c:tx>
          <c:spPr>
            <a:ln xmlns:a="http://schemas.openxmlformats.org/drawingml/2006/main" w="38100">
              <a:solidFill>
                <a:srgbClr val="E8A33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E8A33D"/>
              </a:solidFill>
              <a:ln xmlns:a="http://schemas.openxmlformats.org/drawingml/2006/main">
                <a:solidFill>
                  <a:srgbClr val="E8A33D"/>
                </a:solidFill>
              </a:ln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28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12</c:v>
                </c:pt>
                <c:pt idx="5">
                  <c:v>8</c:v>
                </c:pt>
                <c:pt idx="6">
                  <c:v>4</c:v>
                </c:pt>
                <c:pt idx="7">
                  <c:v>0</c:v>
                </c:pt>
              </c:numCache>
            </c:numRef>
          </c:val>
          <c:smooth val="0"/>
        </c:ser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0">
                    <a:solidFill>
                      <a:srgbClr val="9FC2C9"/>
                    </a:solidFill>
                  </a:rPr>
                  <a:t>Día del sprint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9FC2C9"/>
                  </a:solidFill>
                </a:defRPr>
              </a:pPr>
            </a:p>
          </c:txPr>
        </c:title>
        <c:numFmt formatCode="General"/>
        <c:majorTickMark val="out"/>
        <c:minorTickMark val="none"/>
        <c:tickLblPos val="nextTo"/>
        <c:spPr>
          <a:ln xmlns:a="http://schemas.openxmlformats.org/drawingml/2006/main">
            <a:solidFill>
              <a:srgbClr val="2A556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9FC2C9"/>
                </a:solidFill>
              </a:defRPr>
            </a:pPr>
          </a:p>
        </c:txPr>
        <c:crossAx val="2140495176"/>
        <c:crosses val="autoZero"/>
        <c:lblAlgn val="ctr"/>
        <c:noMultiLvlLbl val="0"/>
        <c:lblOffset val="100"/>
      </c:catAx>
      <c:valAx>
        <c:axId val="2140495176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2A556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0">
                    <a:solidFill>
                      <a:srgbClr val="9FC2C9"/>
                    </a:solidFill>
                  </a:rPr>
                  <a:t>Horas restantes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9FC2C9"/>
                  </a:solidFill>
                </a:defRPr>
              </a:pPr>
            </a:p>
          </c:txPr>
        </c:title>
        <c:numFmt formatCode="General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9FC2C9"/>
                </a:solidFill>
              </a:defRPr>
            </a:pPr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FFFFFF"/>
              </a:solidFill>
            </a:defRPr>
          </a:pPr>
        </a:p>
      </c:txPr>
    </c:legend>
    <c:plotVisOnly val="1"/>
    <c:dispBlanksAs val="gap"/>
  </c:chart>
</c:chartSpace>
</file>

<file path=ppt/slides/charts/chart2.xml><?xml version="1.0" encoding="utf-8"?>
<c:chartSpace xmlns:c="http://schemas.openxmlformats.org/drawingml/2006/chart">
  <c:lang val="en-US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Trabajo ideal</c:v>
                </c:pt>
              </c:strCache>
            </c:strRef>
          </c:tx>
          <c:spPr>
            <a:ln xmlns:a="http://schemas.openxmlformats.org/drawingml/2006/main" w="22225">
              <a:solidFill>
                <a:srgbClr val="9FC2C9"/>
              </a:solidFill>
              <a:prstDash val="dash"/>
            </a:ln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</c:v>
                </c:pt>
                <c:pt idx="1">
                  <c:v>28</c:v>
                </c:pt>
                <c:pt idx="2">
                  <c:v>24</c:v>
                </c:pt>
                <c:pt idx="3">
                  <c:v>20</c:v>
                </c:pt>
                <c:pt idx="4">
                  <c:v>16</c:v>
                </c:pt>
                <c:pt idx="5">
                  <c:v>12</c:v>
                </c:pt>
                <c:pt idx="6">
                  <c:v>8</c:v>
                </c:pt>
                <c:pt idx="7">
                  <c:v>4</c:v>
                </c:pt>
                <c:pt idx="8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Trabajo real</c:v>
                </c:pt>
              </c:strCache>
            </c:strRef>
          </c:tx>
          <c:spPr>
            <a:ln xmlns:a="http://schemas.openxmlformats.org/drawingml/2006/main" w="38100">
              <a:solidFill>
                <a:srgbClr val="E8A33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E8A33D"/>
              </a:solidFill>
              <a:ln xmlns:a="http://schemas.openxmlformats.org/drawingml/2006/main">
                <a:solidFill>
                  <a:srgbClr val="E8A33D"/>
                </a:solidFill>
              </a:ln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</c:v>
                </c:pt>
                <c:pt idx="1">
                  <c:v>30</c:v>
                </c:pt>
                <c:pt idx="2">
                  <c:v>26</c:v>
                </c:pt>
                <c:pt idx="3">
                  <c:v>22</c:v>
                </c:pt>
                <c:pt idx="4">
                  <c:v>18</c:v>
                </c:pt>
                <c:pt idx="5">
                  <c:v>18</c:v>
                </c:pt>
                <c:pt idx="6">
                  <c:v>14</c:v>
                </c:pt>
                <c:pt idx="7">
                  <c:v>10</c:v>
                </c:pt>
                <c:pt idx="8">
                  <c:v>8</c:v>
                </c:pt>
              </c:numCache>
            </c:numRef>
          </c:val>
          <c:smooth val="0"/>
        </c:ser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0">
                    <a:solidFill>
                      <a:srgbClr val="9FC2C9"/>
                    </a:solidFill>
                  </a:rPr>
                  <a:t>Día del sprint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9FC2C9"/>
                  </a:solidFill>
                </a:defRPr>
              </a:pPr>
            </a:p>
          </c:txPr>
        </c:title>
        <c:numFmt formatCode="General"/>
        <c:majorTickMark val="out"/>
        <c:minorTickMark val="none"/>
        <c:tickLblPos val="nextTo"/>
        <c:spPr>
          <a:ln xmlns:a="http://schemas.openxmlformats.org/drawingml/2006/main">
            <a:solidFill>
              <a:srgbClr val="2A556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9FC2C9"/>
                </a:solidFill>
              </a:defRPr>
            </a:pPr>
          </a:p>
        </c:txPr>
        <c:crossAx val="2140495176"/>
        <c:crosses val="autoZero"/>
        <c:lblAlgn val="ctr"/>
        <c:noMultiLvlLbl val="0"/>
        <c:lblOffset val="100"/>
      </c:catAx>
      <c:valAx>
        <c:axId val="2140495176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2A556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0">
                    <a:solidFill>
                      <a:srgbClr val="9FC2C9"/>
                    </a:solidFill>
                  </a:rPr>
                  <a:t>Horas restantes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9FC2C9"/>
                  </a:solidFill>
                </a:defRPr>
              </a:pPr>
            </a:p>
          </c:txPr>
        </c:title>
        <c:numFmt formatCode="General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9FC2C9"/>
                </a:solidFill>
              </a:defRPr>
            </a:pPr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FFFFFF"/>
              </a:solidFill>
            </a:defRPr>
          </a:pPr>
        </a:p>
      </c:txPr>
    </c:legend>
    <c:plotVisOnly val="1"/>
    <c:dispBlanksAs val="gap"/>
  </c:chart>
</c:chartSpace>
</file>

<file path=ppt/slides/charts/chart3.xml><?xml version="1.0" encoding="utf-8"?>
<c:chartSpace xmlns:c="http://schemas.openxmlformats.org/drawingml/2006/chart">
  <c:lang val="en-US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Trabajo ideal</c:v>
                </c:pt>
              </c:strCache>
            </c:strRef>
          </c:tx>
          <c:spPr>
            <a:ln xmlns:a="http://schemas.openxmlformats.org/drawingml/2006/main" w="22225">
              <a:solidFill>
                <a:srgbClr val="9FC2C9"/>
              </a:solidFill>
              <a:prstDash val="dash"/>
            </a:ln>
          </c:spPr>
          <c:marker>
            <c:symbol val="none"/>
          </c:marker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6</c:v>
                </c:pt>
                <c:pt idx="6">
                  <c:v>2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Trabajo real</c:v>
                </c:pt>
              </c:strCache>
            </c:strRef>
          </c:tx>
          <c:spPr>
            <a:ln xmlns:a="http://schemas.openxmlformats.org/drawingml/2006/main" w="38100">
              <a:solidFill>
                <a:srgbClr val="E8A33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E8A33D"/>
              </a:solidFill>
              <a:ln xmlns:a="http://schemas.openxmlformats.org/drawingml/2006/main">
                <a:solidFill>
                  <a:srgbClr val="E8A33D"/>
                </a:solidFill>
              </a:ln>
            </c:spPr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>
                    <a:solidFill>
                      <a:srgbClr val="FFFFFF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26</c:v>
                </c:pt>
                <c:pt idx="1">
                  <c:v>26</c:v>
                </c:pt>
                <c:pt idx="2">
                  <c:v>22</c:v>
                </c:pt>
                <c:pt idx="3">
                  <c:v>20</c:v>
                </c:pt>
                <c:pt idx="4">
                  <c:v>17</c:v>
                </c:pt>
                <c:pt idx="5">
                  <c:v>13</c:v>
                </c:pt>
                <c:pt idx="6">
                  <c:v>5</c:v>
                </c:pt>
                <c:pt idx="7">
                  <c:v>0</c:v>
                </c:pt>
              </c:numCache>
            </c:numRef>
          </c:val>
          <c:smooth val="0"/>
        </c:ser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0">
                    <a:solidFill>
                      <a:srgbClr val="9FC2C9"/>
                    </a:solidFill>
                  </a:rPr>
                  <a:t>Día del sprint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9FC2C9"/>
                  </a:solidFill>
                </a:defRPr>
              </a:pPr>
            </a:p>
          </c:txPr>
        </c:title>
        <c:numFmt formatCode="General"/>
        <c:majorTickMark val="out"/>
        <c:minorTickMark val="none"/>
        <c:tickLblPos val="nextTo"/>
        <c:spPr>
          <a:ln xmlns:a="http://schemas.openxmlformats.org/drawingml/2006/main">
            <a:solidFill>
              <a:srgbClr val="2A556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9FC2C9"/>
                </a:solidFill>
              </a:defRPr>
            </a:pPr>
          </a:p>
        </c:txPr>
        <c:crossAx val="2140495176"/>
        <c:crosses val="autoZero"/>
        <c:lblAlgn val="ctr"/>
        <c:noMultiLvlLbl val="0"/>
        <c:lblOffset val="100"/>
      </c:catAx>
      <c:valAx>
        <c:axId val="2140495176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350">
              <a:solidFill>
                <a:srgbClr val="2A556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0">
                    <a:solidFill>
                      <a:srgbClr val="9FC2C9"/>
                    </a:solidFill>
                  </a:rPr>
                  <a:t>Horas restantes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9FC2C9"/>
                  </a:solidFill>
                </a:defRPr>
              </a:pPr>
            </a:p>
          </c:txPr>
        </c:title>
        <c:numFmt formatCode="General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>
                <a:solidFill>
                  <a:srgbClr val="9FC2C9"/>
                </a:solidFill>
              </a:defRPr>
            </a:pPr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00">
              <a:solidFill>
                <a:srgbClr val="FFFFFF"/>
              </a:solidFill>
            </a:defRPr>
          </a:pPr>
        </a:p>
      </c:txPr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65EA30C5-1B00-46F9-B988-3515E326E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2e432f92f46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01A7C1FA-5B78-4E85-B304-5E08A8E044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248d3b3e24e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48A78CCF-F2D0-42AF-98C2-48134731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921CDABD-FDCB-4437-AE2C-CF7312429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f13344f974e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02B33C93-BC0C-44E0-9C97-699F7FDE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3C055356-0B79-4F5D-A710-9FAC7244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 · FASE 1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62FB5F77-C96F-4752-ABD6-0113839BA3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4022055c44a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73280FC8-0FA4-454E-8920-AF5D76D4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01</a:t>
            </a:r>
            <a:endParaRPr sz="1100"/>
          </a:p>
        </p:txBody>
      </p:sp>
      <p:pic>
        <p:nvPicPr>
          <p:cNvPr id="10" name="Image 4">
            <a:extLst xmlns:a="http://schemas.openxmlformats.org/drawingml/2006/main">
              <a:ext uri="{FF2B5EF4-FFF2-40B4-BE49-F238E27FC236}">
                <a16:creationId xmlns:a16="http://schemas.microsoft.com/office/drawing/2014/main" id="{FE55312D-AF4A-4073-8C8F-65865F0981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d8b4758964a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80160" y="4206240"/>
            <a:ext cx="4206240" cy="4206240"/>
          </a:xfrm>
          <a:prstGeom xmlns:a="http://schemas.openxmlformats.org/drawingml/2006/main" prst="rect">
            <a:avLst/>
          </a:prstGeom>
        </p:spPr>
      </p:pic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AAE2A9F1-29A1-498B-8D5F-30D1707B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2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DE TÍTULO</a:t>
            </a:r>
            <a:endParaRPr sz="1500"/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DE6F98F9-910F-43A2-9A5A-181128C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697480"/>
            <a:ext cx="91440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6000"/>
          </a:p>
        </p:txBody>
      </p:sp>
      <p:sp>
        <p:nvSpPr>
          <p:cNvPr id="13" name="Text 6">
            <a:extLst xmlns:a="http://schemas.openxmlformats.org/drawingml/2006/main">
              <a:ext uri="{FF2B5EF4-FFF2-40B4-BE49-F238E27FC236}">
                <a16:creationId xmlns:a16="http://schemas.microsoft.com/office/drawing/2014/main" id="{31C93D47-4FA9-446D-B361-73C2E28C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80467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Carnet sanitario digital y red de donantes de sangre para mascotas</a:t>
            </a:r>
            <a:endParaRPr sz="1800"/>
          </a:p>
        </p:txBody>
      </p:sp>
      <p:sp>
        <p:nvSpPr>
          <p:cNvPr id="14" name="Shape 7">
            <a:extLst xmlns:a="http://schemas.openxmlformats.org/drawingml/2006/main">
              <a:ext uri="{FF2B5EF4-FFF2-40B4-BE49-F238E27FC236}">
                <a16:creationId xmlns:a16="http://schemas.microsoft.com/office/drawing/2014/main" id="{2ADE1FC1-7942-4A3B-89EE-540264F2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8A33D"/>
            </a:solidFill>
            <a:prstDash val="solid"/>
          </a:ln>
        </p:spPr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6DBEAA82-301D-4972-8B7D-F57E7CCA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8056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Ingeniería en Informática · Duoc UC, sede Valparaíso</a:t>
            </a:r>
            <a:endParaRPr sz="1250"/>
          </a:p>
        </p:txBody>
      </p:sp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89A68476-35ED-4C91-89CB-2A71FA80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74920"/>
            <a:ext cx="8046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Evelyn Barrera Guevara  ·  Paulina Escudero Díaz</a:t>
            </a:r>
            <a:endParaRPr sz="1500"/>
          </a:p>
        </p:txBody>
      </p:sp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0DCFDA29-27DF-4EF4-AEAE-57805E9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8640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Sprints 1 a 3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113285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139B670E-3890-4ADE-AB32-95CF092C96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9c2e7e9fa4f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328DB189-5F0E-4030-A11C-AB48489014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c199ebf3a4d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A157BDF8-C65A-4CDD-A7E1-24C846FF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B142722D-8450-4259-B28D-0BFCE561E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f8bb430cd48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5ECA217E-9F16-4CD1-837A-F89FDCCA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B720D450-3995-4AD2-BE16-733C9091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 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69B124C0-3E62-4F43-B6C7-B685BC493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0983e8fb143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112F4A9F-0EAF-49F2-8EEA-5BDE362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02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E8B1D408-0B0F-40BC-B9F8-3661A992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Contenidos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3829A2BC-4654-4276-892E-0817F2F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AD39110B-B16B-4749-868F-6308AA4F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5303520" cy="402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 Contexto y problema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 Necesidades específicas y solución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 Objetivos del proyecto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 Alcances y limitaciones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 Requerimientos funcionales y no funcionales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 Tecnologías y arquitectura</a:t>
            </a:r>
            <a:endParaRPr sz="160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392A33EE-E0E3-4740-B928-13584FE6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0240"/>
            <a:ext cx="5394960" cy="4023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7.  Metodología Scrum y roles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8.  Carta Gantt del proyecto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9.  Historias de usuario y validación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10.  Evidencias, burndown y retrospectiva — Sprints 1 a 3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11.  Demostración — Sprints 1 a 3</a:t>
            </a:r>
            <a:endParaRPr sz="1600"/>
          </a:p>
          <a:p xmlns:a="http://schemas.openxmlformats.org/drawingml/2006/main">
            <a:pPr marL="0" indent="0">
              <a:spcAft>
                <a:spcPts val="22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12.  Costos y cierre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5238832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6DFBBB2-051C-4FA3-8C7C-4345525DD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5b1f8291746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46642EAC-2F94-4E0C-ACB6-A1A47047F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ba5fd0b5340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A88EF79A-548A-442D-89BC-9B1CB351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2D174848-76F6-4704-AC35-EFACAB222F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b306e08a748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A2BFAF85-3EC4-4A6C-9FFE-A593FC6F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5257876D-7D6B-40C2-85E3-3407C92A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666C89AA-59F6-475D-982E-759FA978B9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6980b42794b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70853A31-7D78-42FC-B4B1-356E62D7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03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A9966D02-3102-4C1C-BF90-97D148EF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Contexto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61167C1C-1977-4E77-B96A-11DD72A5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42011F84-CDAD-4DDD-AEE7-0F7E06A3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102412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En Chile no existe un sistema de bancos de sangre animal centralizado y ampliamente disponible para clínicas veterinarias.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Frente a una urgencia, los tutores de mascotas dependen de publicaciones en redes sociales y de contactos personales para encontrar un donante a tiempo.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La información sanitaria de cada mascota (vacunas, tratamientos, antecedentes) suele quedar dispersa entre libretas físicas, mensajes y la memoria del tutor.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Pethub nace como proyecto de título de la carrera de Ingeniería en Informática, Duoc UC sede Valparaíso, en respuesta a este vacío.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8262856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87B4A5BB-C8E8-42BE-969D-2BB7A3D06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35ee84d854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BAC7A5EE-ED7B-4B00-8EEE-2D9D243BA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d5e2dc14a4a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07F6391F-2E6F-4843-82B6-5B32F07C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5DB44540-CF2A-4631-9EF1-4D33268AE0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edb5d9e9946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067E13B-B5BF-4282-973E-B2B87C78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317E2F42-7E9C-4A05-9628-4CA160C3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19E2E08C-664D-46D4-8D61-BDF83B0BA0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c43defc4c24f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0D37409A-96FF-40CB-A9B9-9A02E91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04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02B34D8D-9E4E-4091-AD76-281D803F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Problema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559E12CB-A829-4CD7-8A5C-D7018D5E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061A63E1-3696-49CF-9625-B7BB902F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102412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La búsqueda de donantes de sangre para mascotas depende de redes sociales y contactos personales, sin un canal formal.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La información sanitaria de cada mascota está dispersa, lo que dificulta coordinar una donación con rapidez.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No existe trazabilidad del contacto entre quien necesita un donante y quien se ofrece como tal.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20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Los recordatorios de cuidados básicos (como vacunas) quedan sujetos a la memoria del tutor, sin apoyo digital.</a:t>
            </a:r>
            <a:endParaRPr sz="1600"/>
          </a:p>
        </p:txBody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048CC42A-D0AA-4F55-A0BA-559B79E1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F2A3886A-6753-48C1-A617-FCE12AD8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2432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La aplicación facilita el contacto y la organización de la información; la evaluación médica y la aptitud del donante siguen correspondiendo al veterinario.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8231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7BB34D6-1752-49FE-A7C6-CF1ABA4297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f179c867f4f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5DC31E93-C414-4E7D-B1B9-210131D940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f902ed8884f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2A09008B-3B47-479F-AED7-7AE3EBB6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C845833D-9274-4A04-AE5F-1D7EA1B53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2e7435aab49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EBF20448-EB8A-4137-AEE3-E33667C0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7D92CE6B-7501-400D-B7B0-E7208133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18C7DB34-AA08-4326-ABA9-984472CC44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f45cfbaa14e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040B0D53-7219-4CC1-99AB-58BFDD6E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05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73C8C94B-49ED-4754-9B72-1A8FD1D5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Necesidades específicas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BC5966EA-A3D1-4524-A669-078DED4A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E402F30D-B6CB-480B-8F4C-6D8B4906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102412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18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Contar con un lugar único donde registrar y consultar el carnet sanitario digital de cada mascota.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18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Disponer de un mecanismo para encontrar donantes voluntarios, filtrando por especie, grupo declarado y comuna.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18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Coordinar el contacto entre quien busca un donante y quien se ofrece, de forma directa y trazable mediante chat.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18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Recibir notificaciones oportunas ante solicitudes urgentes y recordatorios de vacunas.</a:t>
            </a:r>
            <a:endParaRPr sz="16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1800"/>
              </a:spcAft>
              <a:buSzPct val="100000"/>
              <a:buChar char="•"/>
            </a:pPr>
            <a:r>
              <a:rPr sz="16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Acceder a un espacio de comunidad (foro) para compartir experiencias, con moderación básica.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84573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9D745B4-46CD-4CAA-92DF-15B2958BF8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5149e84b24c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5A590ED1-94EE-481C-9C45-49E8BD8EF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fb4ab73044f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9D371A4A-0925-4190-BC82-02526EB0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3ABDD5A9-2753-456E-9195-07C6CD8815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78d7f1bad40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68FCE22B-D33D-43EA-88E7-D73DB16E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8F5EE4FF-D4DD-4474-9D69-7DC38EE4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97C22F84-E4F7-45B2-A4E7-229A3954F7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35480adbf41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F90DF86A-7421-4B9C-89C5-862D0A5B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06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5C5CBFC4-C650-4A3A-89FA-0D7E0E88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Solución propuesta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4DDDA34F-DA95-4D8C-86DF-F105CA49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D467286A-779E-4897-A01B-3B3A2E7C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10241280" cy="105156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DCEBBEDE-F819-4B7E-9E59-0E4F3D31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96926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Desarrollar una aplicación móvil que centralice la información sanitaria y conecte a cuidadores de mascotas donantes con quienes requieren una transfusión.</a:t>
            </a:r>
            <a:endParaRPr sz="165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72FD6A17-9367-4855-A811-D6970B96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10241280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sz="15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Centralizar el carnet sanitario digital y el registro voluntario de donantes.</a:t>
            </a:r>
            <a:endParaRPr sz="155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sz="15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Permitir búsquedas por especie, grupo sanguíneo declarado y comuna.</a:t>
            </a:r>
            <a:endParaRPr sz="155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sz="15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Coordinar el contacto entre las partes mediante un chat integrado a la aplicación.</a:t>
            </a:r>
            <a:endParaRPr sz="1550"/>
          </a:p>
        </p:txBody>
      </p:sp>
      <p:sp>
        <p:nvSpPr>
          <p:cNvPr id="15" name="Shape 9">
            <a:extLst xmlns:a="http://schemas.openxmlformats.org/drawingml/2006/main">
              <a:ext uri="{FF2B5EF4-FFF2-40B4-BE49-F238E27FC236}">
                <a16:creationId xmlns:a16="http://schemas.microsoft.com/office/drawing/2014/main" id="{B539B263-60E7-45A2-9A5E-7E7D7BAF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C7F1D6A4-F464-46AB-8B2B-D651B0BF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2432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La aplicación facilita el contacto; la evaluación médica y la aptitud del donante corresponden siempre al veterinario tratante.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42085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17C31CA-2713-4D5B-8C4A-06EB2FD501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3e7840b5f4e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45E1529C-6C56-4209-BC86-363202213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0ae410ad746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A4F019A8-F2C1-46E1-8BAC-C964F96C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81840246-3334-4DD2-A78F-3B8CECE1C3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272f3c68c49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A0EB5FE1-51FB-4083-8380-7DFF6477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A1673B85-B6F2-46F2-816C-BEBCD45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 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A1132AF0-E02C-41E2-A391-673DDE0A27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cba1abe204f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E8A57D32-F7F6-4ABB-9C0B-F6FB05D5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07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42639E01-9190-4ACD-9BD6-97C2FD6A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Objetivo general y objetivos específicos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EAC1FD82-AC49-4407-89B8-CD691AAA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A5B9E940-C655-4B7C-8C3C-DF854223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Objetivo general</a:t>
            </a:r>
            <a:endParaRPr sz="150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616C2037-1E78-4382-8D45-B29060F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10424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i="1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Desarrollar una aplicación móvil que centralice la información sanitaria y conecte a cuidadores de mascotas donantes con quienes requieren una transfusión.</a:t>
            </a:r>
            <a:endParaRPr sz="145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D8E956F2-0E68-4EBA-8017-3CCB5F58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Objetivos específicos</a:t>
            </a:r>
            <a:endParaRPr sz="1500"/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7361284E-8924-49EC-89EA-88377FB7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54680"/>
            <a:ext cx="1033272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Diseñar el carnet sanitario digital y sus documentos asociados.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Registrar donantes voluntarios y permitir su búsqueda por filtros.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Gestionar solicitudes, chat y notificaciones urgentes.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Incorporar un foro comunitario con moderación básica.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Validar la usabilidad de la aplicación con cuidadores y/o veterinarios.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846231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CED35619-4B67-405B-B020-05BDA097E1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d1f3a9d1d42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2240455F-091A-4A4A-AB30-DBE5893A3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42f53bdd64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8A4756B7-75B5-4AD2-99BF-0463E58A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66FB0156-EC5D-483A-A975-E065A62A49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478fd9ebb40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94191F8-E1A9-4393-B6EA-73C4BB1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6CA993A5-A552-4EC2-8897-FA43F60B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B92B8BD9-8D93-4C1D-A21C-9FF959A04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6b51c6afb43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647EEF6C-5A0C-4565-9CC0-94F6092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08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D5049FAB-B6B9-4A83-BE5E-0881025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Alcances y limitaciones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BEDC3BAE-CBB8-4F6D-BC34-716B4E4A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BDB0FE34-9A55-4338-A67C-D6DB62DB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5212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Incluido en el proyecto</a:t>
            </a:r>
            <a:endParaRPr sz="1700"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003E59FD-62FC-4267-BDB6-78183E3F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28800"/>
            <a:ext cx="5212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Fuera de alcance</a:t>
            </a:r>
            <a:endParaRPr sz="1700"/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4636C3BE-A0EE-4618-ADE4-619D6A3F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0" cy="4206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569"/>
            </a:solidFill>
            <a:prstDash val="solid"/>
          </a:ln>
        </p:spPr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86F016EA-3ED8-4326-8495-E6E3E122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521208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Carnet sanitario, documentos y código QR.</a:t>
            </a:r>
            <a:endParaRPr sz="135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Registro y búsqueda de donantes.</a:t>
            </a:r>
            <a:endParaRPr sz="135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Solicitudes, chat y notificaciones.</a:t>
            </a:r>
            <a:endParaRPr sz="135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Recordatorios de vacunas.</a:t>
            </a:r>
            <a:endParaRPr sz="135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Foro, comentarios y búsqueda.</a:t>
            </a:r>
            <a:endParaRPr sz="1350"/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6A8C6F5F-829F-4BC5-9CE1-4150B6AB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31720"/>
            <a:ext cx="521208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Validar aptitud médica desde la app.</a:t>
            </a:r>
            <a:endParaRPr sz="135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Garantizar compatibilidad o disponibilidad de donantes.</a:t>
            </a:r>
            <a:endParaRPr sz="135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Verificar certificados automáticamente.</a:t>
            </a:r>
            <a:endParaRPr sz="135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GPS preciso e integración con clínicas.</a:t>
            </a:r>
            <a:endParaRPr sz="1350"/>
          </a:p>
          <a:p xmlns:a="http://schemas.openxmlformats.org/drawingml/2006/main"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Moderación avanzada y sistema de reputación.</a:t>
            </a:r>
            <a:endParaRPr sz="135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3B2BA5F9-6CF3-410E-BD7F-8AA6F746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43020827-B4EF-4A44-9D5F-F216BDC1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2432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Foco inicial del proyecto: perros y gatos. La ubicación se registra por comuna, no por geolocalización precisa.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192782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FEC0A21-82FD-43CD-87E5-010E3CE7A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62f0bef3b41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7D131346-B298-4545-A6CC-F2052BD99C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98d2fd1174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B636624A-CB56-4948-8683-27AE16EE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C1F5198C-7698-49D4-8E45-CB04869BD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cf2527c5b4d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7CECCC82-AFEB-4722-92CA-3744C6F5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4135F2A9-BBDA-41A3-8A95-1F9354EA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6C351BB3-3852-459B-B09D-6D4B104CE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61d77f4bf41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5B07B9CE-C60E-469B-B935-CC2828E8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09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2D4FCC7B-8777-48D5-90DB-D6CD400C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Requisitos funcionales · Sprint 1 y 2</a:t>
            </a:r>
            <a:endParaRPr sz="26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CFABBEFC-1F4A-400B-B1A0-CCA70635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12" name="Table 0">
            <a:extLst xmlns:a="http://schemas.openxmlformats.org/drawingml/2006/main">
              <a:ext uri="{FF2B5EF4-FFF2-40B4-BE49-F238E27FC236}">
                <a16:creationId xmlns:a16="http://schemas.microsoft.com/office/drawing/2014/main" id="{61ED10CC-3EB2-4835-9A4D-360FD49120D2}"/>
              </a:ext>
            </a:extLst>
          </p:cNvPr>
          <p:cNvGraphicFramePr/>
          <p:nvPr/>
        </p:nvGraphicFramePr>
        <p:xfrm>
          <a:off xmlns:a="http://schemas.openxmlformats.org/drawingml/2006/main" x="502920" y="1691640"/>
          <a:ext xmlns:a="http://schemas.openxmlformats.org/drawingml/2006/main" cx="11201400" cy="3474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7240"/>
                <a:gridCol w="2011680"/>
                <a:gridCol w="6858000"/>
                <a:gridCol w="155448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Requisito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Historia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RF-01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Registro de cuenta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Crear cuenta con nombre, correo y contraseña; confirma por correo y rechaza correos duplicados.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S1-HU01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RF-02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Inicio de sesión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Autenticar con correo y contraseña; solo abre el panel con credenciales válidas.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S1-HU02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RF-03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Bloqueo temporal de acceso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Bloquear el acceso tras 5 intentos fallidos consecutivos (espera de 15 minutos).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S1-HU02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RF-04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Registro de mascotas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Registrar nombre, especie, raza y edad; permite varias mascotas por dueño.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S1-HU03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RF-05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Registro y edición de vacunas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Guardar y editar vacunas con fecha de aplicación y próximo refuerzo.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S2-HU04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RF-06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Enfermedades y tratamientos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Registrar diagnóstico, fecha y tratamiento; consultar el historial médico.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S2-HU05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RF-07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Adjuntos veterinarios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Almacenar imágenes o PDF asociados al registro médico, validando formato y tamaño.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S2-HU06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RF-08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Recordatorios de vacunas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Enviar un push con tres días de anticipación antes del refuerzo.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S2-HU07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RF-09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Recordatorio alternativo en la app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Mostrar el recordatorio dentro de la app cuando el push falla por permisos.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S2-HU07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93889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3634CF0-D1C9-49C2-9684-9BB66237E3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faa4b791a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20D18737-DF10-4F69-9B63-1DD3176982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ecf87186b4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9880CEC7-D5AB-40BC-8E4B-5F2D21C3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9376E27A-AB93-4F56-969E-9D8E970531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82302691146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283FAF93-FA9B-4A38-8E79-F1D6EB7C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85BC5071-CEAA-490D-A07D-D743CA53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 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E73A5AA2-6AAC-4CE3-ACA4-4C2F8E20D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700103a564d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7BCBC48B-2A45-43A5-B21D-4900663E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10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B4C6FD1B-2255-45B0-91FF-B2F70F0A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Requisitos funcionales · Sprint 3 y 4</a:t>
            </a:r>
            <a:endParaRPr sz="26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E0FABFA1-DAA8-486B-8FC8-CD14A60C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12" name="Table 0">
            <a:extLst xmlns:a="http://schemas.openxmlformats.org/drawingml/2006/main">
              <a:ext uri="{FF2B5EF4-FFF2-40B4-BE49-F238E27FC236}">
                <a16:creationId xmlns:a16="http://schemas.microsoft.com/office/drawing/2014/main" id="{D252B037-C6A4-4A0C-AEE8-BE2637921CA3}"/>
              </a:ext>
            </a:extLst>
          </p:cNvPr>
          <p:cNvGraphicFramePr/>
          <p:nvPr/>
        </p:nvGraphicFramePr>
        <p:xfrm>
          <a:off xmlns:a="http://schemas.openxmlformats.org/drawingml/2006/main" x="502920" y="1691640"/>
          <a:ext xmlns:a="http://schemas.openxmlformats.org/drawingml/2006/main" cx="11201400" cy="38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7240"/>
                <a:gridCol w="2011680"/>
                <a:gridCol w="6858000"/>
                <a:gridCol w="155448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Requisito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Historia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RF-10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Registro de donante voluntario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Registrar una mascota como donante, con grupo sanguíneo pendiente o conocido.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S3-HU08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RF-11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Actualización del grupo sanguíneo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Guardar el grupo obtenido por tipificación veterinaria; activa al donante.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S3-HU08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RF-12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Publicación de solicitud de sangre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Publicar solicitudes con especie, grupo sanguíneo y nivel de urgencia.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S3-HU09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RF-13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Cierre de solicitud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Marcar una solicitud como resuelta y retirarla de las búsquedas activas.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S3-HU09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RF-14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Búsqueda de donantes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Filtrar por especie, grupo sanguíneo y comuna, ordenando por cercanía.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S3-HU10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RF-15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Disponibilidad del donante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Permitir desactivar temporalmente la disponibilidad de un donante.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S4-HU11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RF-16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Alertas de solicitudes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Enviar push (FCM) a dueños de donantes disponibles que coincidan con la solicitud.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S4-HU11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RF-17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Contacto directo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Abrir un chat interno entre el solicitante y el dueño del donante.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S4-HU12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RF-18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Restricción por bloqueo de usuario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Impedir iniciar un chat si una de las partes bloqueó a la otra.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S4-HU12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RF-19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Aviso de validación veterinaria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Mostrar siempre el aviso de evaluación presencial; no certifica aptitud médica.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S4-HU13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4139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1682C8E-ABA2-4D04-8257-988B6BE2E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d91bdf1e549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0724AF49-AF5C-4EC3-AED8-FF833BD3F1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a705a00a541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6FE2391F-DF65-4FD8-9B22-F5BDF38A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0EBC6C0D-2ADF-409D-A5AB-7F4E3DFF56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8daea5af54d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8999A7A1-8EE1-4B67-B42F-56875310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FB2BF1C9-BB59-459B-B75B-ECBC82AE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44B7DADC-B7F1-4240-9EE0-F4D6BEBEF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4574c14454f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3453577A-7446-481C-89E3-8DCD5EB5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11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B90BC00F-85FB-45B0-BDA8-BF15EB4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Requisitos funcionales · Sprint 5</a:t>
            </a:r>
            <a:endParaRPr sz="26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BC1809D6-14F6-4FD1-90EE-0F9F6A62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12" name="Table 0">
            <a:extLst xmlns:a="http://schemas.openxmlformats.org/drawingml/2006/main">
              <a:ext uri="{FF2B5EF4-FFF2-40B4-BE49-F238E27FC236}">
                <a16:creationId xmlns:a16="http://schemas.microsoft.com/office/drawing/2014/main" id="{9C60BA8B-8E36-46FE-A1C2-24A7F307FFD0}"/>
              </a:ext>
            </a:extLst>
          </p:cNvPr>
          <p:cNvGraphicFramePr/>
          <p:nvPr/>
        </p:nvGraphicFramePr>
        <p:xfrm>
          <a:off xmlns:a="http://schemas.openxmlformats.org/drawingml/2006/main" x="502920" y="1691640"/>
          <a:ext xmlns:a="http://schemas.openxmlformats.org/drawingml/2006/main" cx="11201400" cy="312724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7240"/>
                <a:gridCol w="2011680"/>
                <a:gridCol w="6858000"/>
                <a:gridCol w="155448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Requisito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Historia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RF-20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Mensajería en tiempo real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Enviar y recibir mensajes en la conversación, sin recargar manualmente.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S5-HU14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RF-21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Reintento de mensajes sin conexión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Reintentar el envío automáticamente al recuperar la conexión.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S5-HU14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RF-22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Historial del chat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Recuperar el historial completo tras cerrar y reabrir la aplicación.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S5-HU14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RF-23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Publicación en el foro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Publicar preguntas o experiencias con título y contenido.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S5-HU15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RF-24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Eliminación de publicación propia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Eliminar una publicación propia y sus comentarios, con confirmación.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S5-HU15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RF-25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Comentarios en el foro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Comentar publicaciones existentes y mostrarlos a los usuarios del foro.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S5-HU16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RF-26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Reporte de comentarios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Ocultar automáticamente comentarios con tres o más reportes.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S5-HU16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RF-27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Búsqueda en el foro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Buscar por palabra clave (mínimo 3 caracteres), ordenando por fecha.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S5-HU17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</a:tbl>
          </a:graphicData>
        </a:graphic>
      </p:graphicFrame>
      <p:sp>
        <p:nvSpPr>
          <p:cNvPr id="13" name="Shape 6">
            <a:extLst xmlns:a="http://schemas.openxmlformats.org/drawingml/2006/main">
              <a:ext uri="{FF2B5EF4-FFF2-40B4-BE49-F238E27FC236}">
                <a16:creationId xmlns:a16="http://schemas.microsoft.com/office/drawing/2014/main" id="{9BB82F96-B8D5-46D6-BF01-CCD4CCA4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DBC48F5E-A8D1-4760-A9F2-F234870F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27 requisitos funcionales en total, derivados de 17 historias de usuario y sus 51 escenarios de aceptación.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618411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F92FA415-7EFB-439D-9FB8-46AD85E4A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2ae5fd6e2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25893866-7D59-41EC-96CB-1382D5D461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e383cec124b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5430CD47-BB67-447C-BBFB-A8A3393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C5E5FD5B-3C9A-46AB-9EC1-59331F94CB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625d73b034c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16097535-6B6C-46AA-9663-A8CFB1D3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91467D36-F53F-4DB9-9489-5B556E37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E551BBF0-EC1F-42D7-B9EA-531F589D3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3cf5e34bd49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435935FB-A5A2-4C3C-A50E-C07C20FC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12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EBE06AE4-C125-4981-A6B8-2293ED20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Requisitos no funcionales</a:t>
            </a:r>
            <a:endParaRPr sz="26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1B088E89-6908-45CA-97F4-A4A5CAF0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13" name="Table 0">
            <a:extLst xmlns:a="http://schemas.openxmlformats.org/drawingml/2006/main">
              <a:ext uri="{FF2B5EF4-FFF2-40B4-BE49-F238E27FC236}">
                <a16:creationId xmlns:a16="http://schemas.microsoft.com/office/drawing/2014/main" id="{251FA246-706B-4469-8B8C-AC59E5A4F6B6}"/>
              </a:ext>
            </a:extLst>
          </p:cNvPr>
          <p:cNvGraphicFramePr/>
          <p:nvPr/>
        </p:nvGraphicFramePr>
        <p:xfrm>
          <a:off xmlns:a="http://schemas.openxmlformats.org/drawingml/2006/main" x="502920" y="1691640"/>
          <a:ext xmlns:a="http://schemas.openxmlformats.org/drawingml/2006/main" cx="11201400" cy="42123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7240"/>
                <a:gridCol w="2148840"/>
                <a:gridCol w="6720840"/>
                <a:gridCol w="1554480"/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ID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Requisito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Origen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RNF-01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Seguridad de contraseñas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Exigir contraseñas de al menos 8 caracteres.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Explícito en HU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RNF-02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Confidencialidad y autorización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Proteger registros sanitarios y chats del acceso de otros usuarios.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Derivado · por validar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RNF-03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Protección de credenciales y transporte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Contraseñas con hash y sal; datos viajan por conexión cifrada.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Propuesto · por validar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RNF-04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Integridad de los datos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Evitar duplicación y mantener correctas las asociaciones dueño–mascota–historial.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Derivado de HU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RNF-05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Persistencia de conversaciones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Conservar el historial de chat completo y ordenado entre sesiones.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Explícito en HU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RNF-06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Tolerancia a interrupciones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Recuperar mensajes tras pérdida de conexión, sin duplicarlos.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Derivado · por validar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RNF-07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Rendimiento del chat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Meta propuesta: ≥95/100 mensajes entregados en ≤2 s, con 20 usuarios conectados.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Propuesto · por validar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RNF-08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Rendimiento de búsquedas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Meta propuesta: ≥95/100 búsquedas en ≤3 s, con 1.000 registros y 20 usuarios.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Propuesto · por validar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RNF-09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Claridad de errores y avisos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Mostrar mensajes de error en español, explicando cómo corregir.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Derivado · por validar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RNF-10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Compatibilidad de la interfaz móvil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Flujos completos en pantallas de 360–390 px sin cortes ni scroll horizontal.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Propuesto · por validar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RNF-11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Recuperación de información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Meta propuesta: respaldo diario, con pérdida máxima de 24 horas.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80">
                          <a:solidFill>
                            <a:srgbClr val="12313F"/>
                          </a:solidFill>
                        </a:rPr>
                        <a:t>Propuesto · por validar</a:t>
                      </a:r>
                      <a:endParaRPr sz="98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3457529E-6628-4106-94C1-820715CB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F8B7427C-7E2D-4CBE-B336-07B2039C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9320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Los requisitos marcados “por validar” son propuestas del equipo, pendientes de confirmar con la profesora/comisión.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212089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852248BC-FC88-43D6-9670-FC1693B01F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90847cf6e4f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D6914432-1CA9-44F4-A555-40C9275EC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728ef9318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A06655A3-4DB2-4333-B19C-3DDDC412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E207AA88-3C45-4524-9AD8-7D66FB7847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7a7e4bc7242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63843F78-278F-47F4-8DD6-D3CA6F67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283C5E2C-C78D-403C-8417-9A25980F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8D67462B-F841-4B12-9D1F-F7196ED59D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72e09067844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617CCFC5-3F39-439B-92E9-BC04BEEC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13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DEAFD472-D722-45CA-B21F-4967BE34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Tecnologías y arquitectura propuesta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5CE08D9B-AF1A-47B1-BE28-E7B231D4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14" name="Table 0">
            <a:extLst xmlns:a="http://schemas.openxmlformats.org/drawingml/2006/main">
              <a:ext uri="{FF2B5EF4-FFF2-40B4-BE49-F238E27FC236}">
                <a16:creationId xmlns:a16="http://schemas.microsoft.com/office/drawing/2014/main" id="{D6AF2AF3-F1B2-449A-A7BD-DF20E6F5A686}"/>
              </a:ext>
            </a:extLst>
          </p:cNvPr>
          <p:cNvGraphicFramePr/>
          <p:nvPr/>
        </p:nvGraphicFramePr>
        <p:xfrm>
          <a:off xmlns:a="http://schemas.openxmlformats.org/drawingml/2006/main" x="502920" y="1783080"/>
          <a:ext xmlns:a="http://schemas.openxmlformats.org/drawingml/2006/main" cx="11201400" cy="307238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657600"/>
                <a:gridCol w="52578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sz="12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Tecnología</a:t>
                      </a:r>
                      <a:endParaRPr sz="12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Uso</a:t>
                      </a:r>
                      <a:endParaRPr sz="12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Frontend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Angular + Ionic + Capacitor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Aplicación móvil multiplataforma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Backend / API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Node.js + Express + Prisma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Lógica de negocio y acceso a datos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Base de datos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PostgreSQL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Usuarios, mascotas y solicitudes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Chat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Socket.io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Mensajería en tiempo real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Notificaciones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Firebase Cloud Messaging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Avisos urgentes y recordatorios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Archivos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S3 compatible / Cloudflare R2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Fotografías y documentos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Despliegue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Docker y Docker Compose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Contenerización del backend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6">
            <a:extLst xmlns:a="http://schemas.openxmlformats.org/drawingml/2006/main">
              <a:ext uri="{FF2B5EF4-FFF2-40B4-BE49-F238E27FC236}">
                <a16:creationId xmlns:a16="http://schemas.microsoft.com/office/drawing/2014/main" id="{83FFDD7A-5541-4AFA-9400-C9837681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F4321E62-2B66-41FC-BF31-5B998765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Stack propuesto para el proyecto completo: se valida progresivamente mediante pruebas de concepto en cada sprint.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81177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AD815CC-60A8-4A62-990A-73E59B306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b1ad8600c44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80BDFA80-CE48-4C98-9EC6-181F6CCBA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b8716c6d646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3D5A3C4E-4ABD-41CD-B985-C7913A6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2C633B96-8799-4BCD-9E00-3523EB46A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25433089f4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BEFD4D8-CBF2-433C-922D-A595D52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D92E2CBB-7163-4670-82E7-96E1445E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D12BD966-3B0F-4407-83EA-80EE05BDE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62fd4d92648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1A6628C3-AD88-492B-98D8-DA6A606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14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27E69C2B-1BA7-494D-B8BA-DDE23977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Arquitectura del sistema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54ED5D34-098A-45D7-843C-B08D347C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24895E6D-4E45-4494-A9DC-B82BB8B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210312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5875">
            <a:solidFill>
              <a:srgbClr val="155569"/>
            </a:solidFill>
            <a:prstDash val="solid"/>
          </a:ln>
        </p:spPr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DD42C262-4A14-4A37-A36D-D718E979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87168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 móvil</a:t>
            </a:r>
            <a:endParaRPr sz="140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341561A3-74C9-492C-8135-B62DA0A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98064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Angular + Ionic</a:t>
            </a:r>
            <a:endParaRPr sz="950"/>
          </a:p>
        </p:txBody>
      </p:sp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B42202ED-40F2-40E2-B76B-FD558BE9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99232"/>
            <a:ext cx="2103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Capacitor · Android / iOS</a:t>
            </a:r>
            <a:endParaRPr sz="950"/>
          </a:p>
        </p:txBody>
      </p:sp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B734D565-EB29-4F62-98EA-919D1CB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1965960"/>
            <a:ext cx="4846320" cy="3611880"/>
          </a:xfrm>
          <a:prstGeom xmlns:a="http://schemas.openxmlformats.org/drawingml/2006/main" prst="roundRect">
            <a:avLst>
              <a:gd name="adj" fmla="val 2532"/>
            </a:avLst>
          </a:prstGeom>
          <a:ln xmlns:a="http://schemas.openxmlformats.org/drawingml/2006/main" w="15875">
            <a:solidFill>
              <a:srgbClr val="155569"/>
            </a:solidFill>
            <a:prstDash val="dash"/>
          </a:ln>
        </p:spPr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38BBD559-D2D7-4A9F-B86E-41C265F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40680"/>
            <a:ext cx="3840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Docker Compose — mismo despliegue</a:t>
            </a:r>
            <a:endParaRPr sz="9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8AECE84E-17F7-408F-83AF-7A80A1EF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31720"/>
            <a:ext cx="429768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5875">
            <a:solidFill>
              <a:srgbClr val="155569"/>
            </a:solidFill>
            <a:prstDash val="solid"/>
          </a:ln>
        </p:spPr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FF893FD4-5142-438D-A478-F97BD2DF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127248"/>
            <a:ext cx="4261104" cy="740664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155569">
              <a:alpha val="45000"/>
            </a:srgbClr>
          </a:solidFill>
        </p:spPr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C18AD801-E4D0-4637-BD18-EF85098B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08960"/>
            <a:ext cx="4297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C2A2D8B5-4A51-404F-AEC5-69BF2BB6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77440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spc="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NODE.JS + EXPRESS · UN SOLO PROCESO</a:t>
            </a:r>
            <a:endParaRPr sz="7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455E780C-83E0-40E8-B0A0-83E93E38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578608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REST</a:t>
            </a:r>
            <a:endParaRPr sz="1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31C904C8-DA7A-48D1-83DE-13F80F1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834640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rutas HTTP · JWT · CORS</a:t>
            </a:r>
            <a:endParaRPr sz="95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4EDBB76F-16EB-4338-89CC-DC6E2F7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246120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Socket.io</a:t>
            </a:r>
            <a:endParaRPr sz="14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C25F5090-8034-487B-BF2E-A754A1B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502152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chat en tiempo real</a:t>
            </a:r>
            <a:endParaRPr sz="95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230E7900-0FD7-4AAE-9F55-250D98A8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160520"/>
            <a:ext cx="429768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C3244"/>
          </a:solidFill>
          <a:ln xmlns:a="http://schemas.openxmlformats.org/drawingml/2006/main" w="15875">
            <a:solidFill>
              <a:srgbClr val="155569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7C020EBC-BCF0-4E6F-842B-180B944E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334256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</a:t>
            </a:r>
            <a:endParaRPr sz="1400"/>
          </a:p>
        </p:txBody>
      </p:sp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E69C64D0-8F78-4922-87E4-7C678F88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590288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Usuarios · Mascotas · Solicitudes</a:t>
            </a:r>
            <a:endParaRPr sz="950"/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0A150CF6-8090-4E12-B9BE-8D882CE8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773168"/>
            <a:ext cx="4297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vía Prisma ORM</a:t>
            </a:r>
            <a:endParaRPr sz="95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4CE4FD33-D066-4E94-A61D-2CE96C99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331720"/>
            <a:ext cx="251460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5875">
            <a:solidFill>
              <a:srgbClr val="155569"/>
            </a:solidFill>
            <a:prstDash val="solid"/>
          </a:ln>
        </p:spPr>
      </p:sp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DAF359EA-199D-46B2-94AD-E5D1D48A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615184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Firebase Cloud</a:t>
            </a:r>
            <a:endParaRPr sz="1300"/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D5AA3A25-BBDE-4381-8931-D8FF2E68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16352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Messaging</a:t>
            </a:r>
            <a:endParaRPr sz="1300"/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E866D790-A1EB-4CDA-8084-4D17FA79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054096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notificaciones push</a:t>
            </a:r>
            <a:endParaRPr sz="900"/>
          </a:p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0C5852F3-C9EF-4B43-B6D0-49F8DBB0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160520"/>
            <a:ext cx="251460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C3244"/>
          </a:solidFill>
          <a:ln xmlns:a="http://schemas.openxmlformats.org/drawingml/2006/main" w="15875">
            <a:solidFill>
              <a:srgbClr val="155569"/>
            </a:solidFill>
            <a:prstDash val="solid"/>
          </a:ln>
        </p:spPr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7EEFFFA2-C4BF-4E33-A5D0-38E1810B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443984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Almacenamiento</a:t>
            </a:r>
            <a:endParaRPr sz="130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972A378F-4E47-42EB-B860-7040A107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663440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S3 compatible / Cloudflare R2</a:t>
            </a:r>
            <a:endParaRPr sz="850"/>
          </a:p>
        </p:txBody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4A9A8725-13C0-4910-9367-BEBF1E63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828032"/>
            <a:ext cx="2514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fotos y documentos</a:t>
            </a:r>
            <a:endParaRPr sz="850"/>
          </a:p>
        </p:txBody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D91E12BD-BEB2-4844-99EC-581E9F23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260604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FE3E6"/>
            </a:solidFill>
            <a:prstDash val="solid"/>
            <a:headEnd type="triangle"/>
            <a:tailEnd type="triangle"/>
          </a:ln>
        </p:spPr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94224944-AC21-4F4E-AC8F-B93E356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77440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HTTPS · REST</a:t>
            </a:r>
            <a:endParaRPr sz="800"/>
          </a:p>
        </p:txBody>
      </p:sp>
      <p:sp>
        <p:nvSpPr>
          <p:cNvPr id="40" name="Shape 34">
            <a:extLst xmlns:a="http://schemas.openxmlformats.org/drawingml/2006/main">
              <a:ext uri="{FF2B5EF4-FFF2-40B4-BE49-F238E27FC236}">
                <a16:creationId xmlns:a16="http://schemas.microsoft.com/office/drawing/2014/main" id="{9DFB5C11-030F-4150-8D0D-33DA3C8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52044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8A33D"/>
            </a:solidFill>
            <a:prstDash val="dash"/>
            <a:headEnd type="triangle"/>
            <a:tailEnd type="triangle"/>
          </a:ln>
        </p:spPr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002479ED-92DE-4E15-B57B-BF605828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3584448"/>
            <a:ext cx="1143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WSS · Socket.io</a:t>
            </a:r>
            <a:endParaRPr sz="8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DEA1B345-27E4-4727-A71B-EB8C2696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86200"/>
            <a:ext cx="0" cy="274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FE3E6"/>
            </a:solidFill>
            <a:prstDash val="solid"/>
            <a:tailEnd type="triangle"/>
          </a:ln>
        </p:spPr>
      </p:sp>
      <p:sp>
        <p:nvSpPr>
          <p:cNvPr id="43" name="Text 37">
            <a:extLst xmlns:a="http://schemas.openxmlformats.org/drawingml/2006/main">
              <a:ext uri="{FF2B5EF4-FFF2-40B4-BE49-F238E27FC236}">
                <a16:creationId xmlns:a16="http://schemas.microsoft.com/office/drawing/2014/main" id="{2655A3B7-3D41-417A-89EB-A2489435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913632"/>
            <a:ext cx="8229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Prisma</a:t>
            </a:r>
            <a:endParaRPr sz="800"/>
          </a:p>
        </p:txBody>
      </p:sp>
      <p:sp>
        <p:nvSpPr>
          <p:cNvPr id="44" name="Shape 38">
            <a:extLst xmlns:a="http://schemas.openxmlformats.org/drawingml/2006/main">
              <a:ext uri="{FF2B5EF4-FFF2-40B4-BE49-F238E27FC236}">
                <a16:creationId xmlns:a16="http://schemas.microsoft.com/office/drawing/2014/main" id="{1008C60A-1730-4D13-8141-714866E8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14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FE3E6"/>
            </a:solidFill>
            <a:prstDash val="solid"/>
            <a:tailEnd type="triangle"/>
          </a:ln>
        </p:spPr>
      </p:sp>
      <p:sp>
        <p:nvSpPr>
          <p:cNvPr id="45" name="Text 39">
            <a:extLst xmlns:a="http://schemas.openxmlformats.org/drawingml/2006/main">
              <a:ext uri="{FF2B5EF4-FFF2-40B4-BE49-F238E27FC236}">
                <a16:creationId xmlns:a16="http://schemas.microsoft.com/office/drawing/2014/main" id="{39250B40-0E79-4FE5-A50C-D36EA8DC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04288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pide envío</a:t>
            </a:r>
            <a:endParaRPr sz="800"/>
          </a:p>
        </p:txBody>
      </p:sp>
      <p:sp>
        <p:nvSpPr>
          <p:cNvPr id="46" name="Shape 40">
            <a:extLst xmlns:a="http://schemas.openxmlformats.org/drawingml/2006/main">
              <a:ext uri="{FF2B5EF4-FFF2-40B4-BE49-F238E27FC236}">
                <a16:creationId xmlns:a16="http://schemas.microsoft.com/office/drawing/2014/main" id="{EF699A2A-DEEC-4DBA-9162-9463D8C2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788920"/>
            <a:ext cx="914400" cy="1645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CFE3E6"/>
            </a:solidFill>
            <a:prstDash val="solid"/>
            <a:headEnd type="triangle"/>
            <a:tailEnd type="triangle"/>
          </a:ln>
        </p:spPr>
      </p:sp>
      <p:sp>
        <p:nvSpPr>
          <p:cNvPr id="47" name="Text 41">
            <a:extLst xmlns:a="http://schemas.openxmlformats.org/drawingml/2006/main">
              <a:ext uri="{FF2B5EF4-FFF2-40B4-BE49-F238E27FC236}">
                <a16:creationId xmlns:a16="http://schemas.microsoft.com/office/drawing/2014/main" id="{E6B3AB00-34B8-438D-84C8-B8F3A4C7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9601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sube / baja</a:t>
            </a:r>
            <a:endParaRPr sz="800"/>
          </a:p>
        </p:txBody>
      </p:sp>
      <p:sp>
        <p:nvSpPr>
          <p:cNvPr id="48" name="Shape 42">
            <a:extLst xmlns:a="http://schemas.openxmlformats.org/drawingml/2006/main">
              <a:ext uri="{FF2B5EF4-FFF2-40B4-BE49-F238E27FC236}">
                <a16:creationId xmlns:a16="http://schemas.microsoft.com/office/drawing/2014/main" id="{0B791B6D-3BC6-4328-BC0B-AD2024AD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8840"/>
            <a:ext cx="8183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E8A33D"/>
            </a:solidFill>
            <a:prstDash val="dash"/>
            <a:headEnd type="triangle"/>
          </a:ln>
        </p:spPr>
      </p:sp>
      <p:sp>
        <p:nvSpPr>
          <p:cNvPr id="49" name="Text 43">
            <a:extLst xmlns:a="http://schemas.openxmlformats.org/drawingml/2006/main">
              <a:ext uri="{FF2B5EF4-FFF2-40B4-BE49-F238E27FC236}">
                <a16:creationId xmlns:a16="http://schemas.microsoft.com/office/drawing/2014/main" id="{0251E488-E01A-4C16-A071-C705B1B3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20240"/>
            <a:ext cx="81838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FCM entrega la notificación push directo al dispositivo</a:t>
            </a:r>
            <a:endParaRPr sz="900"/>
          </a:p>
        </p:txBody>
      </p:sp>
      <p:sp>
        <p:nvSpPr>
          <p:cNvPr id="50" name="Shape 44">
            <a:extLst xmlns:a="http://schemas.openxmlformats.org/drawingml/2006/main">
              <a:ext uri="{FF2B5EF4-FFF2-40B4-BE49-F238E27FC236}">
                <a16:creationId xmlns:a16="http://schemas.microsoft.com/office/drawing/2014/main" id="{C8A8A77D-293A-4EA5-9F72-F110BE80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11201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51" name="Text 45">
            <a:extLst xmlns:a="http://schemas.openxmlformats.org/drawingml/2006/main">
              <a:ext uri="{FF2B5EF4-FFF2-40B4-BE49-F238E27FC236}">
                <a16:creationId xmlns:a16="http://schemas.microsoft.com/office/drawing/2014/main" id="{2E61C843-0D9E-45A0-B859-F4D2CA88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6440"/>
            <a:ext cx="10835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La app habla con la API por HTTPS (REST) y por WebSocket (Socket.io); la API persiste todo en PostgreSQL vía Prisma dentro de Docker Compose, y delega notificaciones a Firebase Cloud Messaging y archivos a un almacenamiento compatible con S3.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679535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957E944-F39A-4E51-B542-9B9798F01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2a35fc5fb46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5F283494-62FC-4FB8-9453-38A35B5B2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aa645b40646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8C356F5A-7B60-4216-AD06-CFCA2848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06B34BEB-4D42-4E31-8287-D815796108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49e1946a047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1BBAE580-C9C9-456C-A07D-5908E4A6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69A190E5-88E3-4690-A2AD-051B7F0B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 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4EE07A5B-AACD-4BEE-9A37-001FA211F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9856037b749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1B7B45CB-2310-460A-A163-7B205592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15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FF253F0E-9215-4320-820A-1AB49545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Metodología: Scrum adaptado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6CAF640D-B6C1-4D51-8634-B9CF39C1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76C69B5B-B90B-46A3-B96D-5B9A3AA6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60320" cy="3566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7833451F-3D41-4DAE-B0D6-1AC55DF7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1488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14" name="Image 4">
            <a:extLst xmlns:a="http://schemas.openxmlformats.org/drawingml/2006/main">
              <a:ext uri="{FF2B5EF4-FFF2-40B4-BE49-F238E27FC236}">
                <a16:creationId xmlns:a16="http://schemas.microsoft.com/office/drawing/2014/main" id="{8C79DA77-93C3-461F-8999-797B060D3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1e686d7cc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1912" y="23134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075F7A74-73EA-45E4-B52F-0FDB42E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2286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Definición</a:t>
            </a:r>
            <a:endParaRPr sz="1400"/>
          </a:p>
        </p:txBody>
      </p:sp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BCCFD3AE-2F7C-405B-9720-3B4896AA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1880"/>
            <a:ext cx="2194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Semanas 1–4</a:t>
            </a: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Alcance, requisitos y arquitectura</a:t>
            </a:r>
            <a:endParaRPr sz="1100"/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C044EA07-9CAD-4587-8A92-2D85F05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28800"/>
            <a:ext cx="2560320" cy="3566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18" name="Shape 11">
            <a:extLst xmlns:a="http://schemas.openxmlformats.org/drawingml/2006/main">
              <a:ext uri="{FF2B5EF4-FFF2-40B4-BE49-F238E27FC236}">
                <a16:creationId xmlns:a16="http://schemas.microsoft.com/office/drawing/2014/main" id="{C3D05F6B-4FB8-416F-8744-008ED05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488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19" name="Image 5">
            <a:extLst xmlns:a="http://schemas.openxmlformats.org/drawingml/2006/main">
              <a:ext uri="{FF2B5EF4-FFF2-40B4-BE49-F238E27FC236}">
                <a16:creationId xmlns:a16="http://schemas.microsoft.com/office/drawing/2014/main" id="{E2A537D2-73DF-4DE0-BE9C-2148F68966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63793113942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2272" y="23134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C5CAE135-59E9-4F68-B550-1753DD6C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17520"/>
            <a:ext cx="2286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Cinco sprints</a:t>
            </a:r>
            <a:endParaRPr sz="1400"/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5E5B9382-EE6B-40E2-B10B-0C285A93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11880"/>
            <a:ext cx="2194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Semanas 5–14</a:t>
            </a: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Incrementos funcionales cada 2 semanas</a:t>
            </a:r>
            <a:endParaRPr sz="1100"/>
          </a:p>
        </p:txBody>
      </p:sp>
      <p:sp>
        <p:nvSpPr>
          <p:cNvPr id="22" name="Shape 14">
            <a:extLst xmlns:a="http://schemas.openxmlformats.org/drawingml/2006/main">
              <a:ext uri="{FF2B5EF4-FFF2-40B4-BE49-F238E27FC236}">
                <a16:creationId xmlns:a16="http://schemas.microsoft.com/office/drawing/2014/main" id="{B5E6359A-0D5F-4E63-B408-B13DE8B6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2560320" cy="3566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23" name="Shape 15">
            <a:extLst xmlns:a="http://schemas.openxmlformats.org/drawingml/2006/main">
              <a:ext uri="{FF2B5EF4-FFF2-40B4-BE49-F238E27FC236}">
                <a16:creationId xmlns:a16="http://schemas.microsoft.com/office/drawing/2014/main" id="{5EE23899-5CFA-4237-89D8-B25C9107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1488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24" name="Image 6">
            <a:extLst xmlns:a="http://schemas.openxmlformats.org/drawingml/2006/main">
              <a:ext uri="{FF2B5EF4-FFF2-40B4-BE49-F238E27FC236}">
                <a16:creationId xmlns:a16="http://schemas.microsoft.com/office/drawing/2014/main" id="{3F8DA52F-2BC3-4EF4-BFB2-5DDF37A91F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743362a4d42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2632" y="23134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E306FB8C-8872-411D-9951-A8B05082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7520"/>
            <a:ext cx="2286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Cierre</a:t>
            </a:r>
            <a:endParaRPr sz="1400"/>
          </a:p>
        </p:txBody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70E5C6E1-D5D9-4ACA-9F97-4E17211C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611880"/>
            <a:ext cx="2194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Semana 15</a:t>
            </a: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Pruebas integrales e informe final</a:t>
            </a:r>
            <a:endParaRPr sz="1100"/>
          </a:p>
        </p:txBody>
      </p:sp>
      <p:sp>
        <p:nvSpPr>
          <p:cNvPr id="27" name="Shape 18">
            <a:extLst xmlns:a="http://schemas.openxmlformats.org/drawingml/2006/main">
              <a:ext uri="{FF2B5EF4-FFF2-40B4-BE49-F238E27FC236}">
                <a16:creationId xmlns:a16="http://schemas.microsoft.com/office/drawing/2014/main" id="{0D57372F-CC6F-413C-84F1-83AEFC18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28800"/>
            <a:ext cx="2560320" cy="3566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28" name="Shape 19">
            <a:extLst xmlns:a="http://schemas.openxmlformats.org/drawingml/2006/main">
              <a:ext uri="{FF2B5EF4-FFF2-40B4-BE49-F238E27FC236}">
                <a16:creationId xmlns:a16="http://schemas.microsoft.com/office/drawing/2014/main" id="{EACFDF04-4B53-4EAD-81AB-E1FB198B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488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29" name="Image 7">
            <a:extLst xmlns:a="http://schemas.openxmlformats.org/drawingml/2006/main">
              <a:ext uri="{FF2B5EF4-FFF2-40B4-BE49-F238E27FC236}">
                <a16:creationId xmlns:a16="http://schemas.microsoft.com/office/drawing/2014/main" id="{99DD824C-EB9D-47D2-93D5-D44093D1F7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6f4b00dbf4c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2992" y="231343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30" name="Text 20">
            <a:extLst xmlns:a="http://schemas.openxmlformats.org/drawingml/2006/main">
              <a:ext uri="{FF2B5EF4-FFF2-40B4-BE49-F238E27FC236}">
                <a16:creationId xmlns:a16="http://schemas.microsoft.com/office/drawing/2014/main" id="{C2DFBDAB-D055-4B6F-9CCA-61FA614E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017520"/>
            <a:ext cx="2286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Presentación</a:t>
            </a:r>
            <a:endParaRPr sz="1400"/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D00F0564-9E6A-4674-8E99-FA735C17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611880"/>
            <a:ext cx="21945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Semanas 16–18</a:t>
            </a: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Preparación, ensayo y comisión</a:t>
            </a:r>
            <a:endParaRPr sz="1100"/>
          </a:p>
        </p:txBody>
      </p:sp>
      <p:sp>
        <p:nvSpPr>
          <p:cNvPr id="32" name="Shape 22">
            <a:extLst xmlns:a="http://schemas.openxmlformats.org/drawingml/2006/main">
              <a:ext uri="{FF2B5EF4-FFF2-40B4-BE49-F238E27FC236}">
                <a16:creationId xmlns:a16="http://schemas.microsoft.com/office/drawing/2014/main" id="{B08144FF-8105-4B4B-887C-0B1D3440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86400"/>
            <a:ext cx="112014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18A88AAD-9ADF-47CB-8B23-4277C337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356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Cada sprint incluye planificación, revisión y retrospectiva. “Terminado” = código integrado, pruebas ejecutadas y documentación actualizada. Hito intermedio: Informe de Avance en la semana 10.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332116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CA17F584-900F-4CB1-8D41-E41E35F0D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abbe7c8f344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0225EDA1-C6DD-432B-994F-EBC1503604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d68ac49b64e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98559018-46FB-4D66-97AE-A5F04BE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17E81587-626C-4C49-89D8-17A632CF3A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358234bac4b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871691-9571-490D-B360-DAD0B7FD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97077256-343E-481C-A0BD-A47054A9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5DF8947E-4D24-4651-B0C7-9F87D8A15D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1c436fa0c4c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73427F92-6B59-4050-A075-B119B89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16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CFEC999B-39A9-44B4-91DE-13D26A71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Roles Scrum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2306C853-D7C8-4FE7-BB06-47983FD9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AAFE2CAD-ACF9-454A-A63B-2B1C1E4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520440" cy="356616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D19BE110-B668-4D6C-9B44-1D6EE11F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219456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14" name="Image 4">
            <a:extLst xmlns:a="http://schemas.openxmlformats.org/drawingml/2006/main">
              <a:ext uri="{FF2B5EF4-FFF2-40B4-BE49-F238E27FC236}">
                <a16:creationId xmlns:a16="http://schemas.microsoft.com/office/drawing/2014/main" id="{C86DA1E1-10B3-4AA6-8D40-25FF5D22A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6581203cc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61972" y="235915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28AB6173-4702-47A3-B45F-6ABCC46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 Owner</a:t>
            </a:r>
            <a:endParaRPr sz="1400"/>
          </a:p>
        </p:txBody>
      </p:sp>
      <p:sp>
        <p:nvSpPr>
          <p:cNvPr id="16" name="Text 9">
            <a:extLst xmlns:a="http://schemas.openxmlformats.org/drawingml/2006/main">
              <a:ext uri="{FF2B5EF4-FFF2-40B4-BE49-F238E27FC236}">
                <a16:creationId xmlns:a16="http://schemas.microsoft.com/office/drawing/2014/main" id="{AFE0FFAB-74BF-4CFC-A59F-2DD3428A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1546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Profesor guía / comisión evaluadora</a:t>
            </a: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(rol a confirmar con la carrera)</a:t>
            </a:r>
            <a:endParaRPr sz="1100"/>
          </a:p>
        </p:txBody>
      </p:sp>
      <p:sp>
        <p:nvSpPr>
          <p:cNvPr id="17" name="Shape 10">
            <a:extLst xmlns:a="http://schemas.openxmlformats.org/drawingml/2006/main">
              <a:ext uri="{FF2B5EF4-FFF2-40B4-BE49-F238E27FC236}">
                <a16:creationId xmlns:a16="http://schemas.microsoft.com/office/drawing/2014/main" id="{A20A15E0-E3E1-483D-813F-AF5004C7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74520"/>
            <a:ext cx="3520440" cy="356616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18" name="Shape 11">
            <a:extLst xmlns:a="http://schemas.openxmlformats.org/drawingml/2006/main">
              <a:ext uri="{FF2B5EF4-FFF2-40B4-BE49-F238E27FC236}">
                <a16:creationId xmlns:a16="http://schemas.microsoft.com/office/drawing/2014/main" id="{8019B362-219D-441F-92E0-D77761AD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860" y="219456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19" name="Image 5">
            <a:extLst xmlns:a="http://schemas.openxmlformats.org/drawingml/2006/main">
              <a:ext uri="{FF2B5EF4-FFF2-40B4-BE49-F238E27FC236}">
                <a16:creationId xmlns:a16="http://schemas.microsoft.com/office/drawing/2014/main" id="{9EDCF608-EB50-4B16-B7C0-982A84C3D3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cc32aaa484c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2452" y="235915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0" name="Text 12">
            <a:extLst xmlns:a="http://schemas.openxmlformats.org/drawingml/2006/main">
              <a:ext uri="{FF2B5EF4-FFF2-40B4-BE49-F238E27FC236}">
                <a16:creationId xmlns:a16="http://schemas.microsoft.com/office/drawing/2014/main" id="{F5F04A37-9A14-4D78-B37C-E32F9C65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06324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Scrum Master</a:t>
            </a:r>
            <a:endParaRPr sz="1400"/>
          </a:p>
        </p:txBody>
      </p:sp>
      <p:sp>
        <p:nvSpPr>
          <p:cNvPr id="21" name="Text 13">
            <a:extLst xmlns:a="http://schemas.openxmlformats.org/drawingml/2006/main">
              <a:ext uri="{FF2B5EF4-FFF2-40B4-BE49-F238E27FC236}">
                <a16:creationId xmlns:a16="http://schemas.microsoft.com/office/drawing/2014/main" id="{58EE5603-E0E3-4E13-AECE-D8BA08F4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57600"/>
            <a:ext cx="31546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Rol rotativo entre ambas integrantes durante los sprints</a:t>
            </a:r>
            <a:endParaRPr sz="1100"/>
          </a:p>
        </p:txBody>
      </p:sp>
      <p:sp>
        <p:nvSpPr>
          <p:cNvPr id="22" name="Shape 14">
            <a:extLst xmlns:a="http://schemas.openxmlformats.org/drawingml/2006/main">
              <a:ext uri="{FF2B5EF4-FFF2-40B4-BE49-F238E27FC236}">
                <a16:creationId xmlns:a16="http://schemas.microsoft.com/office/drawing/2014/main" id="{19560CA9-F08D-42B4-A54E-FA348B8C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520440" cy="356616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23" name="Shape 15">
            <a:extLst xmlns:a="http://schemas.openxmlformats.org/drawingml/2006/main">
              <a:ext uri="{FF2B5EF4-FFF2-40B4-BE49-F238E27FC236}">
                <a16:creationId xmlns:a16="http://schemas.microsoft.com/office/drawing/2014/main" id="{0AD4E0D7-5C96-4CA6-9BC0-E3BCE414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340" y="219456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24" name="Image 6">
            <a:extLst xmlns:a="http://schemas.openxmlformats.org/drawingml/2006/main">
              <a:ext uri="{FF2B5EF4-FFF2-40B4-BE49-F238E27FC236}">
                <a16:creationId xmlns:a16="http://schemas.microsoft.com/office/drawing/2014/main" id="{AA88DA59-2340-4D66-ACDF-1885D77713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b1ac38c65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2932" y="235915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B922C944-9642-4F93-9E9C-78F238D2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063240"/>
            <a:ext cx="3246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Equipo de desarrollo</a:t>
            </a:r>
            <a:endParaRPr sz="1400"/>
          </a:p>
        </p:txBody>
      </p:sp>
      <p:sp>
        <p:nvSpPr>
          <p:cNvPr id="26" name="Text 17">
            <a:extLst xmlns:a="http://schemas.openxmlformats.org/drawingml/2006/main">
              <a:ext uri="{FF2B5EF4-FFF2-40B4-BE49-F238E27FC236}">
                <a16:creationId xmlns:a16="http://schemas.microsoft.com/office/drawing/2014/main" id="{121AC9D4-5538-4D65-AB60-0AF4E06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657600"/>
            <a:ext cx="31546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Evelyn Barrera — Backend, datos y arquitectura</a:t>
            </a: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endParaRPr sz="1100"/>
          </a:p>
          <a:p xmlns:a="http://schemas.openxmlformats.org/drawingml/2006/main">
            <a:pPr marL="0" indent="0" algn="ctr">
              <a:lnSpc>
                <a:spcPts val="1400"/>
              </a:lnSpc>
              <a:buNone/>
            </a:pPr>
            <a:r>
              <a:rPr sz="11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Paulina Escudero — Frontend y experiencia de usuario</a:t>
            </a:r>
            <a:endParaRPr sz="1100"/>
          </a:p>
        </p:txBody>
      </p:sp>
      <p:sp>
        <p:nvSpPr>
          <p:cNvPr id="27" name="Shape 18">
            <a:extLst xmlns:a="http://schemas.openxmlformats.org/drawingml/2006/main">
              <a:ext uri="{FF2B5EF4-FFF2-40B4-BE49-F238E27FC236}">
                <a16:creationId xmlns:a16="http://schemas.microsoft.com/office/drawing/2014/main" id="{9D228FF1-BBE9-4CB2-986B-A843C77D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23560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85D267AF-2883-48FB-9654-9A3F8BC8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3560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Equipo de 2 integrantes: ambas participan además en requisitos, integración, pruebas y documentación del proyecto.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289029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AA44CE5-7B2F-415A-9998-E86D8B6B7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c9494677e4e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CAE6370F-5C88-491E-8040-DBA5338B9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1e257414e4a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859375AB-0724-452A-A31B-85725AA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C18FF360-31C2-41D5-9257-F5DD4281B6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aa9ab44ee45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879139A8-BB50-4DB2-AF5E-E3458CE7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800D389F-10B3-438B-8FB1-0D2DC9E4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2D6A72EE-2218-4BB1-819D-C6A31C997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ab845040d4d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E0316D07-49FB-4068-A81A-FEAC5B33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17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1A70FACC-A2BC-46AB-9256-0D1A24A6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Carta Gantt actualizada · 1/2</a:t>
            </a:r>
            <a:endParaRPr sz="26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5ADA05CC-FE87-4936-8541-8ACB747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18" name="Table 0">
            <a:extLst xmlns:a="http://schemas.openxmlformats.org/drawingml/2006/main">
              <a:ext uri="{FF2B5EF4-FFF2-40B4-BE49-F238E27FC236}">
                <a16:creationId xmlns:a16="http://schemas.microsoft.com/office/drawing/2014/main" id="{A7A52F5B-2199-426B-BD6D-3E38D9D66E69}"/>
              </a:ext>
            </a:extLst>
          </p:cNvPr>
          <p:cNvGraphicFramePr/>
          <p:nvPr/>
        </p:nvGraphicFramePr>
        <p:xfrm>
          <a:off xmlns:a="http://schemas.openxmlformats.org/drawingml/2006/main" x="502920" y="1691640"/>
          <a:ext xmlns:a="http://schemas.openxmlformats.org/drawingml/2006/main" cx="11201400" cy="416966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672084"/>
                <a:gridCol w="672084"/>
                <a:gridCol w="672084"/>
                <a:gridCol w="672084"/>
                <a:gridCol w="672084"/>
                <a:gridCol w="672084"/>
                <a:gridCol w="672084"/>
                <a:gridCol w="672084"/>
                <a:gridCol w="672084"/>
                <a:gridCol w="672084"/>
              </a:tblGrid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Actividad / historia de usuario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S2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S3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S4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S5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S6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S7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S8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S9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S10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Kick off y organización del equipo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Definición de requerimientos y alcance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Diseño de arquitectura y modelo de datos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Elaboración y entrega Informe Fase 1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Infraestructura base (API, BD, Docker)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Registro y login de usuarios · S1-HU01 / S1-HU02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Registro de mascota · S1-HU03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Registro de vacunas · S2-HU04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Registro de enfermedades y tratamientos · S2-HU05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Adjuntar documentos veterinarios · S2-HU06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Recordatorios push de vacunas · S2-HU07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Registro como donante voluntario · S3-HU08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Publicación de solicitudes de sangre · S3-HU09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Búsqueda de donantes compatibles · S3-HU10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Entrega Informe de Avance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415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E5DE23EC-C2C2-416C-B670-634FCC9BD9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89647a4ac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E6ED1BE5-47B6-49F0-B210-05C0A50CB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3d54050a945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E6B85E58-C505-4172-A85F-27BB8E86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993A095E-5490-4AD0-AA4A-AFA6FCD6A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749217b33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D187F151-E206-4A74-B6B5-E122CA39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E794FE89-A709-4980-8184-46A715F0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10C1AEC8-9436-49BA-AEE1-724A2BA8DA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4e13490b647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A81FABF9-FB75-42F9-A919-582DB7EA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18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AA10D749-4F50-44C1-AEF8-76941DD9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Carta Gantt actualizada · 2/2</a:t>
            </a:r>
            <a:endParaRPr sz="26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8E462A32-2D0F-4C67-9F00-C1F6A015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19" name="Table 0">
            <a:extLst xmlns:a="http://schemas.openxmlformats.org/drawingml/2006/main">
              <a:ext uri="{FF2B5EF4-FFF2-40B4-BE49-F238E27FC236}">
                <a16:creationId xmlns:a16="http://schemas.microsoft.com/office/drawing/2014/main" id="{59C407F5-44CE-4EA0-A46B-12ED85D1EC35}"/>
              </a:ext>
            </a:extLst>
          </p:cNvPr>
          <p:cNvGraphicFramePr/>
          <p:nvPr/>
        </p:nvGraphicFramePr>
        <p:xfrm>
          <a:off xmlns:a="http://schemas.openxmlformats.org/drawingml/2006/main" x="502920" y="1691640"/>
          <a:ext xmlns:a="http://schemas.openxmlformats.org/drawingml/2006/main" cx="11201400" cy="33878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840105"/>
                <a:gridCol w="840105"/>
                <a:gridCol w="840105"/>
                <a:gridCol w="840105"/>
                <a:gridCol w="840105"/>
                <a:gridCol w="840105"/>
                <a:gridCol w="840105"/>
                <a:gridCol w="840105"/>
              </a:tblGrid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Actividad / historia de usuario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S11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S12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S13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S14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S15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S16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S17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S18</a:t>
                      </a:r>
                      <a:endParaRPr sz="10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Notificaciones push de compatibilidad · S4-HU11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Contacto directo entre usuarios (chat inicial) · S4-HU12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Aviso de validación veterinaria presencial · S4-HU13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Chat en tiempo real · S5-HU14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Foro comunitario: publicaciones · S5-HU15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Comentarios en el foro · S5-HU16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Buscar publicaciones por palabra clave · S5-HU17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Pruebas integrales de los módulos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Entrega Informe Final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Preparación de la presentación final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Ensayo y ajustes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50">
                          <a:solidFill>
                            <a:srgbClr val="12313F"/>
                          </a:solidFill>
                        </a:rPr>
                        <a:t>Presentación final a la comisión</a:t>
                      </a:r>
                      <a:endParaRPr sz="9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1">
                          <a:solidFill>
                            <a:srgbClr val="1F6F5C"/>
                          </a:solidFill>
                        </a:rPr>
                        <a:t>●</a:t>
                      </a:r>
                      <a:endParaRPr sz="110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</a:tbl>
          </a:graphicData>
        </a:graphic>
      </p:graphicFrame>
      <p:sp>
        <p:nvSpPr>
          <p:cNvPr id="13" name="Shape 6">
            <a:extLst xmlns:a="http://schemas.openxmlformats.org/drawingml/2006/main">
              <a:ext uri="{FF2B5EF4-FFF2-40B4-BE49-F238E27FC236}">
                <a16:creationId xmlns:a16="http://schemas.microsoft.com/office/drawing/2014/main" id="{4BC2D6F6-022B-488A-A0F6-9527DCCD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720"/>
            <a:ext cx="11201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692E60AC-FAFE-4BE0-8861-1B79FAA8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0720"/>
            <a:ext cx="10835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Sprint 4: S11–12 · Sprint 5: S13–14 · Cierre: S15 · Fase 3: S16–18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18013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AFA59C46-F937-495C-A75A-5779531A7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6a3c106e747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E88CA898-A5A3-4D73-820E-1574DF4EA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2db7f416e4f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316DCAC1-D7D1-454D-88C9-923A5221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1BD2EDC0-9240-48BC-9FFA-471627BD1F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5e4a8b62a4d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79C813F4-A441-4666-9CA7-2DFC38F9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AA4624FA-88C0-42EE-9EA9-38305977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2155E142-0F89-4E93-B9E0-841DEDAE89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fe13c9cf645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462DA75C-0033-4D4D-8D35-7EE3F351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19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39997D08-DFB2-408C-8369-AD6A3FF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Historias de usuario y validación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5BD6C5B8-E0AC-4EAF-9F66-E5338FEA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F1F2806F-14B8-42CE-8F6B-6BCBEC05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7315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17 historias · 51 escenarios de aceptación</a:t>
            </a:r>
            <a:endParaRPr sz="1300"/>
          </a:p>
        </p:txBody>
      </p:sp>
      <p:graphicFrame>
        <p:nvGraphicFramePr>
          <p:cNvPr id="20" name="Table 0">
            <a:extLst xmlns:a="http://schemas.openxmlformats.org/drawingml/2006/main">
              <a:ext uri="{FF2B5EF4-FFF2-40B4-BE49-F238E27FC236}">
                <a16:creationId xmlns:a16="http://schemas.microsoft.com/office/drawing/2014/main" id="{246CCF17-8FD1-481C-B781-76A3138F9610}"/>
              </a:ext>
            </a:extLst>
          </p:cNvPr>
          <p:cNvGraphicFramePr/>
          <p:nvPr/>
        </p:nvGraphicFramePr>
        <p:xfrm>
          <a:off xmlns:a="http://schemas.openxmlformats.org/drawingml/2006/main" x="502920" y="2011680"/>
          <a:ext xmlns:a="http://schemas.openxmlformats.org/drawingml/2006/main" cx="11201400" cy="30175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3040"/>
                <a:gridCol w="2606040"/>
                <a:gridCol w="713232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Sprint</a:t>
                      </a:r>
                      <a:endParaRPr sz="12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Historias</a:t>
                      </a:r>
                      <a:endParaRPr sz="12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Cobertura</a:t>
                      </a:r>
                      <a:endParaRPr sz="12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1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HU01–HU03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Registro, login y perfil de mascota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2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HU04–HU07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Carnet, documentos y recordatorios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3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HU08–HU10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Donantes, solicitudes y búsqueda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4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HU11–HU13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Notificaciones, contacto y aviso veterinario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5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HU14–HU17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Chat y comunidad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7">
            <a:extLst xmlns:a="http://schemas.openxmlformats.org/drawingml/2006/main">
              <a:ext uri="{FF2B5EF4-FFF2-40B4-BE49-F238E27FC236}">
                <a16:creationId xmlns:a16="http://schemas.microsoft.com/office/drawing/2014/main" id="{31700417-47DC-4CB6-8E66-F75D1862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9240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B8B9854D-E88D-4D29-8591-E0491339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Validar cada escenario y documentar pruebas de integración y usabilidad. La coincidencia de filtros no determina aptitud médica.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44166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06D21071-6558-4D26-9CA3-487A79167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49c7c2d75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637E8972-1083-4D64-BA12-03C0051B0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06984ad0648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C745E626-36B3-4F0E-9D68-4D7A6F00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2437F415-CBFE-407F-8A66-05A3DE599A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f2222ddb94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DBA52998-33B2-4455-A2E8-4ACEA56B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8DA1A89C-0EF6-46B2-824E-3805C199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1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A53074B6-5659-41EC-81A8-D6CEC8363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4dc0074bd4f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B18690F3-CF68-4111-8719-6B8940C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20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3C1E676C-B9A1-49D8-BE85-37C48CE9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Evidencias — Sprint 1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D9AF9BD9-3D67-4876-8AF3-D56A2652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C339C999-150C-4BCE-96E3-D6C9EE4C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519B6985-59A2-4A4F-B517-EE785DFA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391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ADD6CEC-BB29-4E10-9DD3-E467B53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Acta de kick off del equipo</a:t>
            </a:r>
            <a:endParaRPr sz="1300"/>
          </a:p>
        </p:txBody>
      </p:sp>
      <p:sp>
        <p:nvSpPr>
          <p:cNvPr id="15" name="Shape 9">
            <a:extLst xmlns:a="http://schemas.openxmlformats.org/drawingml/2006/main">
              <a:ext uri="{FF2B5EF4-FFF2-40B4-BE49-F238E27FC236}">
                <a16:creationId xmlns:a16="http://schemas.microsoft.com/office/drawing/2014/main" id="{B977AE78-9511-4804-B820-31F0537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452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BDCDEA41-0F27-4161-BF8C-7CA79D42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20391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95E6DBA1-C24C-4C67-88C8-90EF1E48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187452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 Backlog del proyecto</a:t>
            </a:r>
            <a:endParaRPr sz="13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119BD8C8-AF5C-4D10-85E0-B03BD0D6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686AFA70-F60A-4596-A118-AFABE418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706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5160573F-F9EF-4834-9059-323361CD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0604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Backlog — Sprint 1</a:t>
            </a:r>
            <a:endParaRPr sz="13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1CEDCBD1-2A78-41C7-9732-3F0E6620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604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8F11DBA6-B15C-4432-AA3B-C80EF354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27706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FE6EF2F-CABE-4AB5-9F01-F746C741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260604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Historias de usuario S1-HU01 a S1-HU03</a:t>
            </a:r>
            <a:endParaRPr sz="13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3D47C687-30BE-4959-B69C-61A03771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2BDC7B3D-C298-4D7D-9E62-C2BCBAA1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021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8882C26E-D0C7-45C2-AC9D-EE6D9B9A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3756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Documentación Scrum del Sprint 1</a:t>
            </a:r>
            <a:endParaRPr sz="13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8B937FBA-374C-499F-B11E-81F76D5F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756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04747D94-76D9-4A6B-8C42-F6A47064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35021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6575AC05-F7A9-40A0-9A42-7D2EE78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333756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Burndown chart — Sprint 1</a:t>
            </a:r>
            <a:endParaRPr sz="130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B177F531-9F18-4AAC-9C37-95B18C50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8D065397-BDB1-4E72-AECD-B1E000EE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3367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BEF9DF7D-C59B-4030-81DF-ABA99633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Retrospectiva — Sprint 1</a:t>
            </a:r>
            <a:endParaRPr sz="1300"/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47A99D17-4AEA-44D1-AB54-D53A341F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6908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BA191CDD-1511-4816-BFC1-AECE3241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423367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4192BAE8-BDF2-47A5-BF6C-D32570FE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406908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Repositorio en GitHub con historial de commits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2624339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B9437ED-08F2-4F24-A704-C01A577F42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3d4e54bc641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F8AEB7B4-9953-4E92-ABC2-B9111CE550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5868c54884a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73EB73D3-6638-4ECB-9B07-654D00C4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4FE31739-5DB7-4587-99BA-87FA137F5D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a42147c0648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E3D66521-468B-4669-AF6A-75B2789E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5A1026FA-6E84-48F8-AAD7-6C0F220F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1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01AF20E6-AD6D-4E54-8818-4AECBA05D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2b5950e74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2248F9DF-AA43-4C44-BF8F-2051441C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21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CCDC7660-CB9E-4E28-AADD-B0693798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Burndown Chart — Sprint 1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36BB5B9F-569C-46B0-94E9-84573084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12" name="Burndown Sprint 1 (horas)">
            <a:extLst xmlns:a="http://schemas.openxmlformats.org/drawingml/2006/main">
              <a:ext uri="{FF2B5EF4-FFF2-40B4-BE49-F238E27FC236}">
                <a16:creationId xmlns:a16="http://schemas.microsoft.com/office/drawing/2014/main" id="{9E17C4C7-56F4-46B0-BBA6-AEC052CC9A45}"/>
              </a:ext>
            </a:extLst>
          </p:cNvPr>
          <p:cNvGraphicFramePr/>
          <p:nvPr/>
        </p:nvGraphicFramePr>
        <p:xfrm>
          <a:off xmlns:a="http://schemas.openxmlformats.org/drawingml/2006/main" x="502920" y="1760000"/>
          <a:ext xmlns:a="http://schemas.openxmlformats.org/drawingml/2006/main" cx="7600000" cy="388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b5b068d9f24c9e"/>
          </a:graphicData>
        </a:graphic>
      </p:graphicFrame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2826F5F-9933-476F-A035-3DDF55E4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1760000"/>
            <a:ext cx="3400000" cy="118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28 h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Trabajo planificado del sprint (7 días de 4 h)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59164B8-7550-4CA7-A8C9-98A5D66E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3100000"/>
            <a:ext cx="3400000" cy="118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28 h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Trabajo real acumulado: el sprint cierra en 0 h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3FD8B5A-662B-40A4-9156-65310569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4440000"/>
            <a:ext cx="3400000" cy="120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17 al 20-09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Feriados: sin trabajo planificado. Documentación Scrum cerrada el 21 de septiembre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03C4BD0-BA42-4463-8BC8-82B94819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000"/>
            <a:ext cx="11201400" cy="56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0000" rIns="18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Burndown en horas: el ideal baja de forma lineal desde las 28 h planificadas; el real descuenta las horas trabajadas. El 11-09 no hubo reunión ni trabajo, porque el 8 y el 10-09 se avanzó más de lo planificado.</a:t>
            </a:r>
          </a:p>
        </p:txBody>
      </p:sp>
    </p:spTree>
    <p:extLst>
      <p:ext uri="{BB962C8B-B14F-4D97-AF65-F5344CB8AC3E}">
        <p14:creationId xmlns:p14="http://schemas.microsoft.com/office/powerpoint/2010/main" val="17051912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9A1BD14-AB0A-42E1-889F-5F9A68F204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692135a99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9AD2F3D3-87F9-443E-86DD-71D691841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6e65c17c9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A236FD05-07E2-4752-991A-9CE1B001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FF4C9F70-45F2-485B-AC50-7EC905A7C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290b262294c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D13C4171-1B12-4C55-9EEC-20847FBB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DA29CD0E-0A83-4282-A7C2-F24264E8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1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8D2381AD-5B11-4A98-B4D9-6B55FC33EB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5526d825649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1E0A5B05-C1AB-4D64-AAAA-08E02E36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22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FCAF38B8-9438-4DAD-96F7-4BEB568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Retrospectiva — Sprint 1</a:t>
            </a:r>
            <a:endParaRPr sz="27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A6046608-4B78-4EFF-A1E5-2EFE7CF5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23" name="Table 0">
            <a:extLst xmlns:a="http://schemas.openxmlformats.org/drawingml/2006/main">
              <a:ext uri="{FF2B5EF4-FFF2-40B4-BE49-F238E27FC236}">
                <a16:creationId xmlns:a16="http://schemas.microsoft.com/office/drawing/2014/main" id="{3E64084F-12F1-4142-9FB0-19DFD20FBAB9}"/>
              </a:ext>
            </a:extLst>
          </p:cNvPr>
          <p:cNvGraphicFramePr/>
          <p:nvPr/>
        </p:nvGraphicFramePr>
        <p:xfrm>
          <a:off xmlns:a="http://schemas.openxmlformats.org/drawingml/2006/main" x="502920" y="1874520"/>
          <a:ext xmlns:a="http://schemas.openxmlformats.org/drawingml/2006/main" cx="11201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30752"/>
                <a:gridCol w="3730752"/>
                <a:gridCol w="3739896"/>
              </a:tblGrid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¿Qué salió bien? (aciertos)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¿Qué no salió bien? (errores)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Mejoras para el próximo sprint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Trabajo en paralelo sin conflictos de Git, gracias a separar backend y frontend en carpetas distintas.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Problemas al instalar PostgreSQL en ambos computadores, lo que retrasó el inicio del desarrollo.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Agregar manejo de errores visible para el usuario, no solo en la consola del navegador.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Diagnóstico sistemático de errores usando las herramientas de desarrollador del navegador.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Fallas “silenciosas”: peticiones que fallaban sin mostrar error visible en la interfaz.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Documentar en el repositorio los pasos exactos de instalación del entorno.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Se completaron las tres historias de usuario planificadas, funcionando de punta a punta.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Un cambio de versión inesperado en Prisma CLI generó confusión y tiempo perdido.</a:t>
                      </a:r>
                      <a:endParaRPr sz="1050"/>
                    </a:p>
                    <a:p>
                      <a:pPr marL="0" indent="0" algn="l">
                        <a:spcBef>
                          <a:spcPts val="500"/>
                        </a:spcBef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Los feriados del 17 al 20-09 recortaron los días de trabajo: la documentación Scrum se cerró el 21-09, después del cierre oficial del sprint.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Probar cada funcionalidad integrada (frontend + backend) más temprano en el sprint.</a:t>
                      </a:r>
                      <a:endParaRPr sz="1050"/>
                    </a:p>
                    <a:p>
                      <a:pPr marL="0" indent="0" algn="l">
                        <a:spcBef>
                          <a:spcPts val="500"/>
                        </a:spcBef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Registrar el burndown en horas desde el inicio del sprint, con la misma unidad de las estimaciones (en este sprint se corrigió de tareas a horas).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0974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20E547E9-2EB2-4201-8B25-92D42609D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063ed5711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A19D8DE8-81A2-4922-9547-438799208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e69209bf443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102E940B-EB59-49E0-897D-ABEBE03C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FA6229BD-DED6-4B70-A9E0-310FC34E66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e17a8222d4b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BC6A0C43-35B9-4774-83AF-217D20C8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CACB9A4A-1BFC-4D6F-823A-4E49B1C6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1 · CIERRE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C57132D0-E092-445B-84F0-F81163876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07c7221dc47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5E6AECBD-5E3E-43EC-8992-D4EC540F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23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F6B88966-28FF-45D6-AE25-55BEF29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Demostración — Sprint 1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AB79F0C1-6493-4334-ABD1-A9F0DFD8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B09F92EE-0687-4AA3-ACB1-0491F1FE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00584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 Creación de una cuenta nueva desde la pantalla de registro.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 Inicio de sesión con las credenciales recién creadas.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 Registro de una mascota con nombre, especie, raza y foto.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 Confirmación de que la mascota persiste correctamente tras recargar la aplicación.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 Edición de los datos de una mascota ya registrada, sin generar duplicados.</a:t>
            </a:r>
            <a:endParaRPr sz="1600"/>
          </a:p>
        </p:txBody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EA293CDC-02C8-4CE7-94F6-7E5968AF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311CA171-14D8-4F9C-85AF-349CD5F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2432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Incremento entregado: registro de usuarios, autenticación y gestión básica de mascotas (crear, listar y editar), conectados a una base de datos PostgreSQL mediante una API REST propia.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834224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1229533B-93F4-4F3D-88DF-A3B89B298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202d5680a4a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369AEAF2-2916-422A-AB06-24EB529DA1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2b7576bba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9343BBFF-112A-468D-BCC3-CCE460A6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DA743D01-1F9F-4BCF-AED0-75BCD0F18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7b3b7af2c4a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1508DD9D-62D9-4911-8DEB-F5383B8B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52D07DAD-11BA-4C5A-B38B-2D2A037E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2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D0736B0F-D7D9-4F62-A94E-1DADCAB6EB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71c0b2f2549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6B865F4E-1C36-4ADF-BA30-2D37161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24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B056BF61-F918-4FED-9BA1-5A021C40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Evidencias — Sprint 2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1FF47368-FBE4-4729-9E95-B13D2AB6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4B663669-B0CD-49B2-B054-BC7FB906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CD6E943E-A799-46D9-AF0B-E300B2A8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391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C3CF9F28-20E6-4708-B526-A77E4E45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Backlog — Sprint 2</a:t>
            </a:r>
            <a:endParaRPr sz="1300"/>
          </a:p>
        </p:txBody>
      </p:sp>
      <p:sp>
        <p:nvSpPr>
          <p:cNvPr id="15" name="Shape 9">
            <a:extLst xmlns:a="http://schemas.openxmlformats.org/drawingml/2006/main">
              <a:ext uri="{FF2B5EF4-FFF2-40B4-BE49-F238E27FC236}">
                <a16:creationId xmlns:a16="http://schemas.microsoft.com/office/drawing/2014/main" id="{D8916AD5-CD1E-4D9E-817E-44A957A3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452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DD1ACEEE-5F5D-4CB1-83DA-C66A4D5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20391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2F4D2AD3-3615-4F14-8517-C8E6C797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187452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Burndown chart — Sprint 2</a:t>
            </a:r>
            <a:endParaRPr sz="13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55F9B2AA-1A80-46A8-B914-CF13702A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9E7F07A5-9BA3-4129-ADB8-D6446A3B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706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AA5212B5-2648-4CFD-A28E-9C9A4294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0604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Historias de usuario S2-HU04 a S2-HU07</a:t>
            </a:r>
            <a:endParaRPr sz="13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40F1DEE7-E530-4971-B681-E9F300FC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604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D9B92171-4A64-44FB-B08E-716780A9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27706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308F6A80-E31A-4530-BA90-6BE69FC8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260604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Retrospectiva — Sprint 2</a:t>
            </a:r>
            <a:endParaRPr sz="13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2048F2EA-5D3C-4505-AC9B-C09F1FD3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E17816C-F8BF-40A4-ACDC-5113F516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021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F255F647-2CD2-4E36-93B5-C1832A7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3756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Documentación Scrum del Sprint 2</a:t>
            </a:r>
            <a:endParaRPr sz="13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548140E9-4715-4AE5-984C-A7E25AB4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756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E8FCB0AD-149D-4ACF-8A17-D92F8B5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35021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00A60548-28AD-4F4E-A341-6F6DF737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333756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Pruebas automatizadas del backend (34 de 34 aprobadas)</a:t>
            </a:r>
            <a:endParaRPr sz="130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5C932D78-F5C1-4D15-9907-BCBF42B2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33E32EA0-4A6D-4B7F-96A4-1CA069B2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3367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D06A543D-E43C-49AA-A1D2-4727B5A0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Informe de pruebas del Sprint 2</a:t>
            </a:r>
            <a:endParaRPr sz="1300"/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58F2729D-C671-42F6-AEF5-E7628028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6908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3BC3B461-D4B0-445D-99F7-19D6D21A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423367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179233DB-505C-43E5-B4C2-783BDF4D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406908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Repositorio en GitHub con historial de commits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055180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D5C9C61-8DC7-4967-8268-BB27079678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deaae43944d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4043A1AB-C7A2-4ACB-A3BD-494789C17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990274d874f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46715F50-CB8D-4210-B26A-816292C9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F352B106-0A7A-4B54-BD4D-73D48B2984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f9f417fc54f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62281974-FC75-4AD6-8CF3-38F9EDFA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4272D771-3312-455B-B96E-3BA4FA09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2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BA9DA9FF-9ACB-4863-A963-C763BD0A7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0c64c45d7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1D91CF13-B9EC-410C-B22D-560BB177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25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B5C4A810-673E-4D0A-9864-518F9E4E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Burndown Chart — Sprint 2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B2FE4CDA-A065-46C7-AAAF-AD3981F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12" name="Burndown Sprint 2 (horas)">
            <a:extLst xmlns:a="http://schemas.openxmlformats.org/drawingml/2006/main">
              <a:ext uri="{FF2B5EF4-FFF2-40B4-BE49-F238E27FC236}">
                <a16:creationId xmlns:a16="http://schemas.microsoft.com/office/drawing/2014/main" id="{61114F77-7D73-4630-AB40-E1B6D2BBA7B5}"/>
              </a:ext>
            </a:extLst>
          </p:cNvPr>
          <p:cNvGraphicFramePr/>
          <p:nvPr/>
        </p:nvGraphicFramePr>
        <p:xfrm>
          <a:off xmlns:a="http://schemas.openxmlformats.org/drawingml/2006/main" x="502920" y="1760000"/>
          <a:ext xmlns:a="http://schemas.openxmlformats.org/drawingml/2006/main" cx="7600000" cy="388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42cdd201a44c6b"/>
          </a:graphicData>
        </a:graphic>
      </p:graphicFrame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DBC9F61-AB04-4FBF-B309-7F985329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1760000"/>
            <a:ext cx="3400000" cy="118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32 h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Trabajo planificado del sprint (8 días de 4 h)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732783D-6369-4ADD-A649-22937B30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3100000"/>
            <a:ext cx="3400000" cy="118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22 h + 2 h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Trabajadas en el sprint, más 2 h de adelanto del backend el 14-09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AA6BBFE-84FE-4C93-85F0-0FC28B8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4440000"/>
            <a:ext cx="3400000" cy="120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+16 h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 base de Paulina (17 al 20-09), adelantado y sin horas planificadas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7D9B965-284D-45E8-B4EB-ADBCEBA8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000"/>
            <a:ext cx="11201400" cy="56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0000" rIns="18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Se trabajaron menos horas de las planificadas porque parte del trabajo se adelantó en las semanas 5 y 6. Las historias del sprint se completaron; la documentación Scrum se cerró el 06-10, ya en el Sprint 3.</a:t>
            </a:r>
          </a:p>
        </p:txBody>
      </p:sp>
    </p:spTree>
    <p:extLst>
      <p:ext uri="{BB962C8B-B14F-4D97-AF65-F5344CB8AC3E}">
        <p14:creationId xmlns:p14="http://schemas.microsoft.com/office/powerpoint/2010/main" val="11542748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D3C7CE89-716B-4707-A2CF-B5D9231DDF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c2ea23c9c4f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AE20C2F1-E13E-48F9-97D7-BECBB4A49D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d8b02c5b646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883FE818-83D7-421A-9D2D-E0BFAB81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669E7254-D7FD-4198-8131-CEE2E1455E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eebf897644b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C6427157-83D1-43D1-AF60-0B0FEB61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D05B51E0-3393-4D0A-8B9D-6ECC2058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2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AF72733C-16B6-4E95-A61F-D513ECB327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25338cd7945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F7B6E9DC-51FE-44E1-827C-DFDE863D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26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F95382FB-7BAC-4B5E-8617-CB3ED436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Retrospectiva — Sprint 2</a:t>
            </a:r>
            <a:endParaRPr sz="27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C767E2AA-9FB6-4092-8986-E7EC7E3E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3" name="Table 0">
            <a:extLst xmlns:a="http://schemas.openxmlformats.org/drawingml/2006/main">
              <a:ext uri="{FF2B5EF4-FFF2-40B4-BE49-F238E27FC236}">
                <a16:creationId xmlns:a16="http://schemas.microsoft.com/office/drawing/2014/main" id="{5E8B603B-9DDA-4F1E-96E4-B7B6341B0CE1}"/>
              </a:ext>
            </a:extLst>
          </p:cNvPr>
          <p:cNvGraphicFramePr/>
          <p:nvPr/>
        </p:nvGraphicFramePr>
        <p:xfrm>
          <a:off xmlns:a="http://schemas.openxmlformats.org/drawingml/2006/main" x="502920" y="1874520"/>
          <a:ext xmlns:a="http://schemas.openxmlformats.org/drawingml/2006/main" cx="11201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30752"/>
                <a:gridCol w="3730752"/>
                <a:gridCol w="3739896"/>
              </a:tblGrid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¿Qué salió bien? (aciertos)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¿Qué no salió bien? (errores)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Mejoras para el próximo sprint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El adelanto del backend de vacunas, registro médico y documentos (14-09) dio margen para completar las cuatro historias.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Bug de zona horaria: la revisión diaria de recordatorios usaba hora local en vez de UTC (corregido el 24-09).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Registrar la documentación Scrum día a día durante el sprint, en lugar de dejarla para el cierre.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Backend y frontend avanzaron en paralelo; cada historia se integró y se probó con pruebas automatizadas.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La documentación Scrum se dejó para el final y se cerró el 06-10, después del cierre del sprint.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Probar con distintas fechas y zonas horarias cada función que dependa de fechas.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El bug de zona horaria de los recordatorios se detectó y se corrigió el mismo día (24-09).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Hubo días planificados sin trabajo (21-09 y 28-09), por lo que el trabajo real fue menor al planificado.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Estimar y registrar en el Sprint Backlog el trabajo adelantado, para que el burndown lo refleje.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9910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049DB5BF-AE5A-4FD9-9013-79504A858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efa93a4c14d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CC7F1AEF-47D0-4A52-9EC6-66FEF535AC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36b7e59bb4b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C1318967-5DAE-4811-9BE1-50233AD7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CAB41228-8BAD-4E74-AFEA-7F4C50438B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1743630d04e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8DC65B8-5490-4FA4-ACF1-D023A0CD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BCF45AE8-92D0-4765-8E01-988DFE36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2 · CIERRE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B36D71D9-A15B-4918-BAB0-655729FBB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7274752004b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F9E15502-AC96-4E4D-85B4-86A021EB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27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7D8A987C-E3FD-4773-817F-EEC6DD6A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Demostración — Sprint 2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DFC66934-9612-40C5-99F7-6C07EFD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344E0EA1-20CD-4301-91A8-EFBB99BF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00584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 Registro de una vacuna con fecha de aplicación y fecha del próximo refuerzo.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 Edición de una vacuna ya registrada, sin duplicar la entrada.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 Registro de un diagnóstico con su tratamiento y consulta del historial médico, de la más reciente a la más antigua.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 Carga de una imagen o un PDF veterinario asociado a un registro médico.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 Recordatorio de una vacuna próxima mostrado dentro de la aplicación, con revisión diaria automática.</a:t>
            </a:r>
            <a:endParaRPr sz="1600"/>
          </a:p>
        </p:txBody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81C61927-B41D-49FA-83A5-460793E6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3748DC31-BA5E-46F9-8D41-E77153A0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2432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Incremento entregado: carnet sanitario digital completo (vacunas, historial médico, documentos veterinarios y recordatorios), conectado al frontend y a PostgreSQL mediante la API REST, con pruebas automatizadas.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931076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CC54B37C-E393-4F7F-BE4A-EFF3A8C2DD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324623fea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FF84BC3E-A5BE-477C-8C27-5B8106B1F8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5b30b70094b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13C9D877-AD2A-4A92-87B7-6572A54C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8D570B30-034D-4FFB-91DB-88E73CBCE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b7e176a6340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C0546C2B-2631-495E-9B11-5D875A4F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77434102-EC40-4649-8613-6AA87208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3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0BB32D47-14BD-4C29-B69B-C8CFD93CE1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7c7a1392943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8E71D058-83D2-49E9-9254-89127FEA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28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BCB30DEF-9E4F-42BB-BAE3-4535CF28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Evidencias — Sprint 3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B34F39F3-BEC8-4A7A-9D8E-CFC09A1A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21807C2B-DF4E-46D9-B576-DF448683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521F0E4D-B753-446D-89B9-DF545AC2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391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5036F02F-45DF-4FB3-B945-E3702860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Sprint Backlog — Sprint 3</a:t>
            </a:r>
            <a:endParaRPr sz="1300"/>
          </a:p>
        </p:txBody>
      </p:sp>
      <p:sp>
        <p:nvSpPr>
          <p:cNvPr id="15" name="Shape 9">
            <a:extLst xmlns:a="http://schemas.openxmlformats.org/drawingml/2006/main">
              <a:ext uri="{FF2B5EF4-FFF2-40B4-BE49-F238E27FC236}">
                <a16:creationId xmlns:a16="http://schemas.microsoft.com/office/drawing/2014/main" id="{5EF29ABF-32B7-4AEF-9F64-22EA62FA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452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0">
            <a:extLst xmlns:a="http://schemas.openxmlformats.org/drawingml/2006/main">
              <a:ext uri="{FF2B5EF4-FFF2-40B4-BE49-F238E27FC236}">
                <a16:creationId xmlns:a16="http://schemas.microsoft.com/office/drawing/2014/main" id="{87B10406-5C6D-459D-A5A2-242A68D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203911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433839B7-DAD4-4CCB-A055-1740D6C8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187452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Burndown chart — Sprint 3</a:t>
            </a:r>
            <a:endParaRPr sz="13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55E946A5-2444-4441-9878-1A9FE2DD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62CBD87A-6716-4D14-ABBD-820F6C08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706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0343C4BF-653D-4124-AEEF-C2786F2D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0604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Historias de usuario S3-HU08 a S3-HU10</a:t>
            </a:r>
            <a:endParaRPr sz="130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F5CDBEFF-F40D-471C-8D74-84AFD846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604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15647076-5F37-4FDF-B172-F2942F1B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277063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BED82FB8-CE02-4F9A-B058-5DFB0683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260604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Retrospectiva — Sprint 3</a:t>
            </a:r>
            <a:endParaRPr sz="13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AB2EFA63-71AF-46E7-AB33-CE8D3E79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82D6848D-1963-4B21-B8E5-E92259F1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021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CED2437F-B00F-445A-889B-51B12334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3756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Documentación Scrum del Sprint 3</a:t>
            </a:r>
            <a:endParaRPr sz="13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BB69560F-165E-449A-917A-0D76D80F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756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A58438BA-65DA-4D34-9C48-2DC8A7BA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350215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E446CD1-24BD-413D-9F5D-06A9D165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333756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Pruebas automatizadas: backend 60 de 60 y </a:t>
            </a: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frontend 66 de 66</a:t>
            </a:r>
            <a:endParaRPr sz="1300"/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6FD7E50F-C918-4E66-A2BD-005AF2DA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C865EDAF-AE93-4987-85D1-287628A0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3367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86383B72-19E3-4CB0-AF81-C71F82E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6908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Informe de pruebas del Sprint 3</a:t>
            </a:r>
            <a:endParaRPr sz="1300"/>
          </a:p>
        </p:txBody>
      </p:sp>
      <p:sp>
        <p:nvSpPr>
          <p:cNvPr id="33" name="Shape 27">
            <a:extLst xmlns:a="http://schemas.openxmlformats.org/drawingml/2006/main">
              <a:ext uri="{FF2B5EF4-FFF2-40B4-BE49-F238E27FC236}">
                <a16:creationId xmlns:a16="http://schemas.microsoft.com/office/drawing/2014/main" id="{D2604244-94D6-45B4-9849-3B815858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69080"/>
            <a:ext cx="5463540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28">
            <a:extLst xmlns:a="http://schemas.openxmlformats.org/drawingml/2006/main">
              <a:ext uri="{FF2B5EF4-FFF2-40B4-BE49-F238E27FC236}">
                <a16:creationId xmlns:a16="http://schemas.microsoft.com/office/drawing/2014/main" id="{023E1973-3361-402B-8D96-F9DFAE32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4233672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836591BC-D2BF-4CF5-8A2B-A97FE330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140" y="4069080"/>
            <a:ext cx="47777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Repositorio en GitHub con historial de commits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5020665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7665B33-9EDA-4883-B766-90564793DC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32a41cd8342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0D83DB49-6643-4F62-B151-3359CC9A89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7d789b8f943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0E0D9DFD-A178-4623-80F7-13B2AA5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FE5671B7-5757-47E9-BFF1-7ABAF9FA31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d9086da4d4b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2781C156-92CD-44F0-B640-C060524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E0B93FA0-BF19-4709-AD9F-0E2A7059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3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3FE7569F-5A16-420B-90D9-F18AE9A3D7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c7ced7c1a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789F674B-44D3-41D9-83D8-CB854EFB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29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F184F4B6-27D7-48D7-96E0-97AD64B7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Burndown Chart — Sprint 3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C7046D43-1E5B-45B8-985F-2F642788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53E46B1-AAFA-4B00-94CB-AACF8FCC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1760000"/>
            <a:ext cx="3400000" cy="118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26 h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Trabajo planificado del sprint (7 días de trabajo, 4 h diarias)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3DC5935-E3ED-4BA0-A58D-437483D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3100000"/>
            <a:ext cx="3400000" cy="118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26 h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Trabajadas en las historias: S3-HU08 a S3-HU10 completadas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E46DE31-4507-4389-947F-670568B9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000" y="4440000"/>
            <a:ext cx="3400000" cy="120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50000" tIns="60000" rIns="150000" bIns="6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+3 h</a:t>
            </a:r>
          </a:p>
          <a:p xmlns:a="http://schemas.openxmlformats.org/drawingml/2006/main">
            <a:pPr algn="l"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planificadas: Docker del backend (06-10) y reunión de alcance con la profesora (15-10)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7EBDAB0-85BD-40E8-B487-F50CB696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60000"/>
            <a:ext cx="11201400" cy="560000"/>
          </a:xfrm>
          <a:prstGeom xmlns:a="http://schemas.openxmlformats.org/drawingml/2006/main" prst="roundRect">
            <a:avLst>
              <a:gd name="adj" fmla="val 12900"/>
            </a:avLst>
          </a:prstGeom>
          <a:solidFill xmlns:a="http://schemas.openxmlformats.org/drawingml/2006/main">
            <a:srgbClr val="0E3247"/>
          </a:solidFill>
          <a:ln xmlns:a="http://schemas.openxmlformats.org/drawingml/2006/main" w="12700">
            <a:solidFill>
              <a:srgbClr val="1555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180000" rIns="18000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El ideal baja desde las 26 h planificadas; el real descuenta las horas trabajadas en las historias. Quedan fuera la documentación Scrum (17 y 18-10) y las pruebas del frontend de solicitudes y buscador (Paulina, 18-10).</a:t>
            </a:r>
          </a:p>
        </p:txBody>
      </p:sp>
      <p:graphicFrame>
        <p:nvGraphicFramePr>
          <p:cNvPr id="17" name="Burndown Sprint 3 (horas)">
            <a:extLst xmlns:a="http://schemas.openxmlformats.org/drawingml/2006/main">
              <a:ext uri="{FF2B5EF4-FFF2-40B4-BE49-F238E27FC236}">
                <a16:creationId xmlns:a16="http://schemas.microsoft.com/office/drawing/2014/main" id="{EFFB0B27-8A9D-4C70-BD41-6AEB223D92B5}"/>
              </a:ext>
            </a:extLst>
          </p:cNvPr>
          <p:cNvGraphicFramePr/>
          <p:nvPr/>
        </p:nvGraphicFramePr>
        <p:xfrm>
          <a:off xmlns:a="http://schemas.openxmlformats.org/drawingml/2006/main" x="502920" y="1760000"/>
          <a:ext xmlns:a="http://schemas.openxmlformats.org/drawingml/2006/main" cx="7600000" cy="388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f296ab62e74dea"/>
          </a:graphicData>
        </a:graphic>
      </p:graphicFrame>
    </p:spTree>
    <p:extLst>
      <p:ext uri="{BB962C8B-B14F-4D97-AF65-F5344CB8AC3E}">
        <p14:creationId xmlns:p14="http://schemas.microsoft.com/office/powerpoint/2010/main" val="146535330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ACCE8C68-BBEC-4BB1-B9D8-89301F5A9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d944f495d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62A68359-41C6-428F-9B78-1E6ADABC39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0aca0886043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31ADBDCE-17E4-4938-AFDC-7DBF96B0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9580D30F-D601-4693-9682-AFD895C9B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2e8087f044d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16F456EA-7C96-49C3-A44F-F0D3C6EC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EE41B359-2225-4FA9-B5D9-8A7C47DC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3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3B85D117-BD69-40CF-AF8B-A898D3BE5C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3f0aa94af49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C10CF01E-BBB5-43A1-971A-FF4E0DB7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30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6C2B26F9-9703-4277-B8EB-63E27408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Retrospectiva — Sprint 3</a:t>
            </a:r>
            <a:endParaRPr sz="27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952B757C-99CD-4B92-9CA5-B2CB14DC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23" name="Table 0">
            <a:extLst xmlns:a="http://schemas.openxmlformats.org/drawingml/2006/main">
              <a:ext uri="{FF2B5EF4-FFF2-40B4-BE49-F238E27FC236}">
                <a16:creationId xmlns:a16="http://schemas.microsoft.com/office/drawing/2014/main" id="{9E1B7BD5-75A7-499B-B3F2-963610BBC84D}"/>
              </a:ext>
            </a:extLst>
          </p:cNvPr>
          <p:cNvGraphicFramePr/>
          <p:nvPr/>
        </p:nvGraphicFramePr>
        <p:xfrm>
          <a:off xmlns:a="http://schemas.openxmlformats.org/drawingml/2006/main" x="502920" y="1874520"/>
          <a:ext xmlns:a="http://schemas.openxmlformats.org/drawingml/2006/main" cx="112014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30752"/>
                <a:gridCol w="3730752"/>
                <a:gridCol w="3739896"/>
              </a:tblGrid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¿Qué salió bien? (aciertos)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¿Qué no salió bien? (errores)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</a:rPr>
                        <a:t>Mejoras para el próximo sprint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Una rama por historia, con migraciones, pruebas manuales y pruebas automatizadas de cada endpoint.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La reorganización del repositorio por fases a mitad del sprint produjo conflictos al unir ramas (15-10).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Registrar la Daily día a día, incluyendo el trabajo fuera del código (reuniones y documentos).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Backend y frontend se integraron dentro del mismo sprint: inscripción, solicitudes y buscador conectados.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La documentación Scrum volvió a quedar para el cierre del sprint.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Avisar al equipo antes de mover o renombrar carpetas del repositorio.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El nuevo alcance de la práctica (página web y sección educativa) se acordó con la profesora el 15-10.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Aún faltan las encuestas y los datos del centro de práctica.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>
                          <a:solidFill>
                            <a:srgbClr val="12313F"/>
                          </a:solidFill>
                        </a:rPr>
                        <a:t>Escribir las pruebas del frontend junto con cada historia y ajustar las horas al acuerdo de 4 h de lunes a viernes.</a:t>
                      </a:r>
                      <a:endParaRPr sz="1050"/>
                    </a:p>
                  </a:txBody>
                  <a:tcPr marL="91440" marR="91440" marT="45720" marB="45720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16054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A191A2AF-2BB3-4F00-B316-08B914DB30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feff2c77047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77399033-4507-4CA4-8112-D8721E1E7C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8e8a52eb94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B8CC2CE3-A401-4A95-AA11-70A8FB47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8D9A19C9-711A-4450-846E-DDD4EC2457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57ac00a494a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B8F73CFD-F067-4933-B3BD-A851585F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7AF8A2C8-7366-48DA-89A3-59A523E7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SPRINT 3 · CIERRE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9AF1C168-37DF-41CB-B9AC-18DEEF22E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d812deb8f4e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04148AC7-6692-43A0-9E6F-B42DFA2A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31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76AEF8DD-E87A-499F-A4E4-BB4EDECC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Demostración — Sprint 3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6F4247E3-C19F-4828-A1AE-536A58F7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6">
            <a:extLst xmlns:a="http://schemas.openxmlformats.org/drawingml/2006/main">
              <a:ext uri="{FF2B5EF4-FFF2-40B4-BE49-F238E27FC236}">
                <a16:creationId xmlns:a16="http://schemas.microsoft.com/office/drawing/2014/main" id="{033FC237-EA0D-4003-87BC-4273C0A5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00584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 Inscripción de una mascota como donante voluntario, con grupo sanguíneo o pendiente de tipificación.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 Publicación de una solicitud de sangre con su nivel de urgencia (alta, media o baja).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 Listado de las solicitudes propias y cierre de una solicitud como resuelta.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 Búsqueda de donantes compatibles por especie, grupo sanguíneo y comuna, con los de la misma comuna primero.</a:t>
            </a:r>
            <a:endParaRPr sz="1600"/>
          </a:p>
          <a:p xmlns:a="http://schemas.openxmlformats.org/drawingml/2006/main">
            <a:pPr marL="0" indent="0">
              <a:spcAft>
                <a:spcPts val="1800"/>
              </a:spcAft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 Aviso de que la aptitud médica para donar la valida siempre un veterinario; los datos de contacto del dueño no se muestran.</a:t>
            </a:r>
            <a:endParaRPr sz="1600"/>
          </a:p>
        </p:txBody>
      </p:sp>
      <p:sp>
        <p:nvSpPr>
          <p:cNvPr id="13" name="Shape 7">
            <a:extLst xmlns:a="http://schemas.openxmlformats.org/drawingml/2006/main">
              <a:ext uri="{FF2B5EF4-FFF2-40B4-BE49-F238E27FC236}">
                <a16:creationId xmlns:a16="http://schemas.microsoft.com/office/drawing/2014/main" id="{04C4C915-4150-4242-A2DF-40DA2554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742432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E09E54EB-7791-425D-95F9-7FDB856A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2432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Incremento entregado: red de donantes de sangre (inscripción, solicitudes y búsqueda) conectada al frontend y a PostgreSQL mediante la API REST, con 26 pruebas automatizadas nuevas en el backend </a:t>
            </a: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y 29 en el frontend</a:t>
            </a: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3432300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4A96CFBC-5FE6-46AB-8312-44FFE45CC7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8ff375df043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9BB6FE96-9000-4736-B0E0-5A6FDF2AD2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12d75c2374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5091F598-E0C8-4BF3-BDC1-C5DECD32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82071D67-91E0-4F51-B64F-49CB171E33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79f21040f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DE410EB4-B112-454E-9A89-CB904355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B2224032-A5F5-49A7-B211-86073698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 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799FD68E-F9DC-4712-9519-55C29A927A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8d55618154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ADDA87B4-84E3-487D-92F7-50664F20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32</a:t>
            </a:r>
            <a:endParaRPr sz="11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04890583-DD4E-4E3C-9DE6-9D26DFB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32688"/>
            <a:ext cx="11155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Costos: escenario ilustrativo</a:t>
            </a:r>
            <a:endParaRPr sz="3000"/>
          </a:p>
        </p:txBody>
      </p:sp>
      <p:sp>
        <p:nvSpPr>
          <p:cNvPr id="11" name="Shape 5">
            <a:extLst xmlns:a="http://schemas.openxmlformats.org/drawingml/2006/main">
              <a:ext uri="{FF2B5EF4-FFF2-40B4-BE49-F238E27FC236}">
                <a16:creationId xmlns:a16="http://schemas.microsoft.com/office/drawing/2014/main" id="{C02CF862-C5C8-46E3-BBB5-8F037C3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154533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E8A33D"/>
            </a:solidFill>
            <a:prstDash val="solid"/>
          </a:ln>
        </p:spPr>
      </p:sp>
      <p:graphicFrame>
        <p:nvGraphicFramePr>
          <p:cNvPr id="25" name="Table 0">
            <a:extLst xmlns:a="http://schemas.openxmlformats.org/drawingml/2006/main">
              <a:ext uri="{FF2B5EF4-FFF2-40B4-BE49-F238E27FC236}">
                <a16:creationId xmlns:a16="http://schemas.microsoft.com/office/drawing/2014/main" id="{CEB29926-81F0-4A93-8BAC-48EC8D42D9E6}"/>
              </a:ext>
            </a:extLst>
          </p:cNvPr>
          <p:cNvGraphicFramePr/>
          <p:nvPr/>
        </p:nvGraphicFramePr>
        <p:xfrm>
          <a:off xmlns:a="http://schemas.openxmlformats.org/drawingml/2006/main" x="502920" y="1920240"/>
          <a:ext xmlns:a="http://schemas.openxmlformats.org/drawingml/2006/main" cx="11201400" cy="2011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80960"/>
                <a:gridCol w="352044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Escenario del documento original</a:t>
                      </a:r>
                      <a:endParaRPr sz="12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</a:rPr>
                        <a:t>Monto estimado (CLP)</a:t>
                      </a:r>
                      <a:endParaRPr sz="12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1249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Banco de sangre + procedimiento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$335.000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Donante directo + procedimiento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150">
                          <a:solidFill>
                            <a:srgbClr val="12313F"/>
                          </a:solidFill>
                        </a:rPr>
                        <a:t>$130.000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EAF1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 b="1">
                          <a:solidFill>
                            <a:srgbClr val="12313F"/>
                          </a:solidFill>
                        </a:rPr>
                        <a:t>Diferencia del ejemplo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150" b="1">
                          <a:solidFill>
                            <a:srgbClr val="12313F"/>
                          </a:solidFill>
                        </a:rPr>
                        <a:t>$205.000 (61,2 %)</a:t>
                      </a:r>
                      <a:endParaRPr sz="1150"/>
                    </a:p>
                  </a:txBody>
                  <a:tcPr marL="91440" marR="91440" marT="45720" marB="45720" anchor="ctr">
                    <a:lnL w="9525" cmpd="sng">
                      <a:solidFill>
                        <a:srgbClr val="D8E2E5"/>
                      </a:solidFill>
                      <a:prstDash val="solid"/>
                    </a:lnL>
                    <a:lnR w="9525" cmpd="sng">
                      <a:solidFill>
                        <a:srgbClr val="D8E2E5"/>
                      </a:solidFill>
                      <a:prstDash val="solid"/>
                    </a:lnR>
                    <a:lnT w="9525" cmpd="sng">
                      <a:solidFill>
                        <a:srgbClr val="D8E2E5"/>
                      </a:solidFill>
                      <a:prstDash val="solid"/>
                    </a:lnT>
                    <a:lnB w="9525" cmpd="sng">
                      <a:solidFill>
                        <a:srgbClr val="D8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6">
            <a:extLst xmlns:a="http://schemas.openxmlformats.org/drawingml/2006/main">
              <a:ext uri="{FF2B5EF4-FFF2-40B4-BE49-F238E27FC236}">
                <a16:creationId xmlns:a16="http://schemas.microsoft.com/office/drawing/2014/main" id="{4A99F78E-DCCF-42FA-BF74-A35FD6FF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112014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650490B8-E02B-4399-8E20-54E9AF11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1960"/>
            <a:ext cx="10835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No es una cotización ni un ahorro garantizado. Se debe validar exámenes, tipificación, extracción, insumos, traslado y procedimiento con cada clínica. La disponibilidad de donantes no está garantizada.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586530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A24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5784C7C0-CE1E-423D-BC80-3844E6F09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dbddf906e49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Image 1">
            <a:extLst xmlns:a="http://schemas.openxmlformats.org/drawingml/2006/main">
              <a:ext uri="{FF2B5EF4-FFF2-40B4-BE49-F238E27FC236}">
                <a16:creationId xmlns:a16="http://schemas.microsoft.com/office/drawing/2014/main" id="{9F625440-531B-47DC-9C7F-EE95670F9B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af69c022a4d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2377440"/>
            <a:ext cx="5669280" cy="5669280"/>
          </a:xfrm>
          <a:prstGeom xmlns:a="http://schemas.openxmlformats.org/drawingml/2006/main" prst="rect">
            <a:avLst/>
          </a:prstGeom>
        </p:spPr>
      </p:pic>
      <p:sp>
        <p:nvSpPr>
          <p:cNvPr id="4" name="Shape 0">
            <a:extLst xmlns:a="http://schemas.openxmlformats.org/drawingml/2006/main">
              <a:ext uri="{FF2B5EF4-FFF2-40B4-BE49-F238E27FC236}">
                <a16:creationId xmlns:a16="http://schemas.microsoft.com/office/drawing/2014/main" id="{D33EF8FC-823B-45B9-8942-C12120F3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3D"/>
          </a:solidFill>
        </p:spPr>
      </p:sp>
      <p:pic>
        <p:nvPicPr>
          <p:cNvPr id="5" name="Image 2">
            <a:extLst xmlns:a="http://schemas.openxmlformats.org/drawingml/2006/main">
              <a:ext uri="{FF2B5EF4-FFF2-40B4-BE49-F238E27FC236}">
                <a16:creationId xmlns:a16="http://schemas.microsoft.com/office/drawing/2014/main" id="{70066737-131F-45C5-AEEA-F930BBC4F8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d0b96947143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" y="397764"/>
            <a:ext cx="210312" cy="210312"/>
          </a:xfrm>
          <a:prstGeom xmlns:a="http://schemas.openxmlformats.org/drawingml/2006/main" prst="rect">
            <a:avLst/>
          </a:prstGeom>
        </p:spPr>
      </p:pic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B274D76-8FCE-4BEE-A53C-A53C6574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</a:t>
            </a:r>
            <a:endParaRPr sz="1600"/>
          </a:p>
        </p:txBody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F0725C38-998B-4AD8-B059-ACACE10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48640"/>
            <a:ext cx="4114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spc="10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PROYECTO PETHUB </a:t>
            </a:r>
            <a:endParaRPr sz="900"/>
          </a:p>
        </p:txBody>
      </p:sp>
      <p:pic>
        <p:nvPicPr>
          <p:cNvPr id="8" name="Image 3">
            <a:extLst xmlns:a="http://schemas.openxmlformats.org/drawingml/2006/main">
              <a:ext uri="{FF2B5EF4-FFF2-40B4-BE49-F238E27FC236}">
                <a16:creationId xmlns:a16="http://schemas.microsoft.com/office/drawing/2014/main" id="{B8F40A56-F4AD-47CA-86EE-552FDE874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c07d0537741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2855" y="347472"/>
            <a:ext cx="1691640" cy="422910"/>
          </a:xfrm>
          <a:prstGeom xmlns:a="http://schemas.openxmlformats.org/drawingml/2006/main" prst="rect">
            <a:avLst/>
          </a:prstGeom>
        </p:spPr>
      </p:pic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FC07E671-4664-4922-A6C4-43405EFE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40080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33</a:t>
            </a:r>
            <a:endParaRPr sz="1100"/>
          </a:p>
        </p:txBody>
      </p:sp>
      <p:pic>
        <p:nvPicPr>
          <p:cNvPr id="10" name="Image 4">
            <a:extLst xmlns:a="http://schemas.openxmlformats.org/drawingml/2006/main">
              <a:ext uri="{FF2B5EF4-FFF2-40B4-BE49-F238E27FC236}">
                <a16:creationId xmlns:a16="http://schemas.microsoft.com/office/drawing/2014/main" id="{866F41C6-5666-4983-A7EA-006E275A42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0bc1231f947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3840" y="-1828800"/>
            <a:ext cx="5029200" cy="5029200"/>
          </a:xfrm>
          <a:prstGeom xmlns:a="http://schemas.openxmlformats.org/drawingml/2006/main" prst="rect">
            <a:avLst/>
          </a:prstGeom>
        </p:spPr>
      </p:pic>
      <p:sp>
        <p:nvSpPr>
          <p:cNvPr id="11" name="Text 4">
            <a:extLst xmlns:a="http://schemas.openxmlformats.org/drawingml/2006/main">
              <a:ext uri="{FF2B5EF4-FFF2-40B4-BE49-F238E27FC236}">
                <a16:creationId xmlns:a16="http://schemas.microsoft.com/office/drawing/2014/main" id="{79E0B30F-8872-4269-B6F0-4A285F04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9601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Pethub: información y coordinación</a:t>
            </a:r>
            <a:endParaRPr sz="3000"/>
          </a:p>
        </p:txBody>
      </p:sp>
      <p:sp>
        <p:nvSpPr>
          <p:cNvPr id="12" name="Text 5">
            <a:extLst xmlns:a="http://schemas.openxmlformats.org/drawingml/2006/main">
              <a:ext uri="{FF2B5EF4-FFF2-40B4-BE49-F238E27FC236}">
                <a16:creationId xmlns:a16="http://schemas.microsoft.com/office/drawing/2014/main" id="{2293EB0F-EA92-49A1-8D3D-455318D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0"/>
            <a:ext cx="86868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7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Un carnet sanitario centralizado.</a:t>
            </a:r>
            <a:endParaRPr sz="170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7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Una red voluntaria de posibles donantes.</a:t>
            </a:r>
            <a:endParaRPr sz="1700"/>
          </a:p>
          <a:p xmlns:a="http://schemas.openxmlformats.org/drawingml/2006/main"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sz="1700">
                <a:solidFill>
                  <a:srgbClr val="CFE3E6"/>
                </a:solidFill>
                <a:latin typeface="Calibri"/>
                <a:ea typeface="Calibri"/>
                <a:cs typeface="Calibri"/>
              </a:rPr>
              <a:t>Un canal para coordinar el contacto.</a:t>
            </a:r>
            <a:endParaRPr sz="1700"/>
          </a:p>
        </p:txBody>
      </p:sp>
      <p:sp>
        <p:nvSpPr>
          <p:cNvPr id="13" name="Shape 6">
            <a:extLst xmlns:a="http://schemas.openxmlformats.org/drawingml/2006/main">
              <a:ext uri="{FF2B5EF4-FFF2-40B4-BE49-F238E27FC236}">
                <a16:creationId xmlns:a16="http://schemas.microsoft.com/office/drawing/2014/main" id="{F65282A7-52AF-4D3D-ADE5-098C4728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63440"/>
            <a:ext cx="1120140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247"/>
          </a:solidFill>
          <a:ln xmlns:a="http://schemas.openxmlformats.org/drawingml/2006/main" w="9525">
            <a:solidFill>
              <a:srgbClr val="155569"/>
            </a:solidFill>
            <a:prstDash val="solid"/>
          </a:ln>
        </p:spPr>
      </p:sp>
      <p:sp>
        <p:nvSpPr>
          <p:cNvPr id="14" name="Text 7">
            <a:extLst xmlns:a="http://schemas.openxmlformats.org/drawingml/2006/main">
              <a:ext uri="{FF2B5EF4-FFF2-40B4-BE49-F238E27FC236}">
                <a16:creationId xmlns:a16="http://schemas.microsoft.com/office/drawing/2014/main" id="{38637109-D84F-4955-A569-A3E9A645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3440"/>
            <a:ext cx="10835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9FC2C9"/>
                </a:solidFill>
                <a:latin typeface="Calibri"/>
                <a:ea typeface="Calibri"/>
                <a:cs typeface="Calibri"/>
              </a:rPr>
              <a:t>El aporte esperado es facilitar la búsqueda y la organización de información, sin sustituir la evaluación veterinaria.</a:t>
            </a:r>
            <a:endParaRPr sz="1100"/>
          </a:p>
        </p:txBody>
      </p:sp>
      <p:sp>
        <p:nvSpPr>
          <p:cNvPr id="15" name="Text 8">
            <a:extLst xmlns:a="http://schemas.openxmlformats.org/drawingml/2006/main">
              <a:ext uri="{FF2B5EF4-FFF2-40B4-BE49-F238E27FC236}">
                <a16:creationId xmlns:a16="http://schemas.microsoft.com/office/drawing/2014/main" id="{1975FD4F-5667-464E-B277-69B1089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86400"/>
            <a:ext cx="73152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Preguntas</a:t>
            </a:r>
            <a:endParaRPr sz="2600"/>
          </a:p>
        </p:txBody>
      </p:sp>
    </p:spTree>
    <p:extLst>
      <p:ext uri="{BB962C8B-B14F-4D97-AF65-F5344CB8AC3E}">
        <p14:creationId xmlns:p14="http://schemas.microsoft.com/office/powerpoint/2010/main" val="3427685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2026-10-18T17:11:03.0360000Z</dcterms:created>
  <dcterms:modified xsi:type="dcterms:W3CDTF">2026-10-18T17:11:03.0360000Z</dcterms:modified>
</coreProperties>
</file>