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139f1bdd824ced" /><Relationship Type="http://schemas.openxmlformats.org/officeDocument/2006/relationships/extended-properties" Target="/docProps/app.xml" Id="Rc36c6c6d2fb14b88" /><Relationship Type="http://schemas.openxmlformats.org/officeDocument/2006/relationships/officeDocument" Target="/ppt/presentation.xml" Id="R15c8e6898dce47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008c587cdb4184"/>
  </p:sldMasterIdLst>
  <p:notesMasterIdLst>
    <p:notesMasterId xmlns:r="http://schemas.openxmlformats.org/officeDocument/2006/relationships" r:id="Rc404ec0750824c87"/>
  </p:notesMasterIdLst>
  <p:sldIdLst>
    <p:sldId xmlns:r="http://schemas.openxmlformats.org/officeDocument/2006/relationships" id="256" r:id="R66c380183b164d24"/>
    <p:sldId xmlns:r="http://schemas.openxmlformats.org/officeDocument/2006/relationships" id="257" r:id="R85bbf1eee050484f"/>
    <p:sldId xmlns:r="http://schemas.openxmlformats.org/officeDocument/2006/relationships" id="258" r:id="R18e66c0abae54b5f"/>
    <p:sldId xmlns:r="http://schemas.openxmlformats.org/officeDocument/2006/relationships" id="259" r:id="Rcd3df64c14cf4155"/>
    <p:sldId xmlns:r="http://schemas.openxmlformats.org/officeDocument/2006/relationships" id="260" r:id="Re9d96e6fc8194d87"/>
    <p:sldId xmlns:r="http://schemas.openxmlformats.org/officeDocument/2006/relationships" id="261" r:id="Rce1add8e1eb8403d"/>
    <p:sldId xmlns:r="http://schemas.openxmlformats.org/officeDocument/2006/relationships" id="262" r:id="Rc2791997a97b4b2a"/>
    <p:sldId xmlns:r="http://schemas.openxmlformats.org/officeDocument/2006/relationships" id="263" r:id="R5ae8e61f337c41a2"/>
    <p:sldId xmlns:r="http://schemas.openxmlformats.org/officeDocument/2006/relationships" id="264" r:id="Rc6ed988760154a50"/>
    <p:sldId xmlns:r="http://schemas.openxmlformats.org/officeDocument/2006/relationships" id="265" r:id="Rc192e64538a84f8b"/>
    <p:sldId xmlns:r="http://schemas.openxmlformats.org/officeDocument/2006/relationships" id="266" r:id="Rfe9a5d40adbb4b50"/>
    <p:sldId xmlns:r="http://schemas.openxmlformats.org/officeDocument/2006/relationships" id="267" r:id="Rea663bd1a67c40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e9054ff0fb44ec" /><Relationship Type="http://schemas.openxmlformats.org/officeDocument/2006/relationships/slideMaster" Target="/ppt/slideMasters/slideMaster1.xml" Id="R88008c587cdb4184" /><Relationship Type="http://schemas.openxmlformats.org/officeDocument/2006/relationships/notesMaster" Target="/ppt/notesMasters/notesMaster1.xml" Id="Rc404ec0750824c87" /><Relationship Type="http://schemas.openxmlformats.org/officeDocument/2006/relationships/presProps" Target="/ppt/presProps.xml" Id="R8be044a7158c4b25" /><Relationship Type="http://schemas.openxmlformats.org/officeDocument/2006/relationships/tableStyles" Target="/ppt/tableStyles.xml" Id="Rba43e3ae649b4d17" /><Relationship Type="http://schemas.openxmlformats.org/officeDocument/2006/relationships/slide" Target="/ppt/slides/slide1.xml" Id="R66c380183b164d24" /><Relationship Type="http://schemas.openxmlformats.org/officeDocument/2006/relationships/slide" Target="/ppt/slides/slide2.xml" Id="R85bbf1eee050484f" /><Relationship Type="http://schemas.openxmlformats.org/officeDocument/2006/relationships/slide" Target="/ppt/slides/slide3.xml" Id="R18e66c0abae54b5f" /><Relationship Type="http://schemas.openxmlformats.org/officeDocument/2006/relationships/slide" Target="/ppt/slides/slide4.xml" Id="Rcd3df64c14cf4155" /><Relationship Type="http://schemas.openxmlformats.org/officeDocument/2006/relationships/slide" Target="/ppt/slides/slide5.xml" Id="Re9d96e6fc8194d87" /><Relationship Type="http://schemas.openxmlformats.org/officeDocument/2006/relationships/slide" Target="/ppt/slides/slide6.xml" Id="Rce1add8e1eb8403d" /><Relationship Type="http://schemas.openxmlformats.org/officeDocument/2006/relationships/slide" Target="/ppt/slides/slide7.xml" Id="Rc2791997a97b4b2a" /><Relationship Type="http://schemas.openxmlformats.org/officeDocument/2006/relationships/slide" Target="/ppt/slides/slide8.xml" Id="R5ae8e61f337c41a2" /><Relationship Type="http://schemas.openxmlformats.org/officeDocument/2006/relationships/slide" Target="/ppt/slides/slide9.xml" Id="Rc6ed988760154a50" /><Relationship Type="http://schemas.openxmlformats.org/officeDocument/2006/relationships/slide" Target="/ppt/slides/slide10.xml" Id="Rc192e64538a84f8b" /><Relationship Type="http://schemas.openxmlformats.org/officeDocument/2006/relationships/slide" Target="/ppt/slides/slide11.xml" Id="Rfe9a5d40adbb4b50" /><Relationship Type="http://schemas.openxmlformats.org/officeDocument/2006/relationships/slide" Target="/ppt/slides/slide12.xml" Id="Rea663bd1a67c40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4d7e51641546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173a8c3c60439f" /><Relationship Type="http://schemas.openxmlformats.org/officeDocument/2006/relationships/notesMaster" Target="/ppt/notesMasters/notesMaster1.xml" Id="R4f07cd45d99048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296c44a1144f11" /><Relationship Type="http://schemas.openxmlformats.org/officeDocument/2006/relationships/notesMaster" Target="/ppt/notesMasters/notesMaster1.xml" Id="R3fc352b748e644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84207462c047db" /><Relationship Type="http://schemas.openxmlformats.org/officeDocument/2006/relationships/notesMaster" Target="/ppt/notesMasters/notesMaster1.xml" Id="R9e0d7755232944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9dae6caaf84eae" /><Relationship Type="http://schemas.openxmlformats.org/officeDocument/2006/relationships/notesMaster" Target="/ppt/notesMasters/notesMaster1.xml" Id="R8583538f45184f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1d7ea959114702" /><Relationship Type="http://schemas.openxmlformats.org/officeDocument/2006/relationships/notesMaster" Target="/ppt/notesMasters/notesMaster1.xml" Id="R232915ed28da44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469b006f284fc1" /><Relationship Type="http://schemas.openxmlformats.org/officeDocument/2006/relationships/notesMaster" Target="/ppt/notesMasters/notesMaster1.xml" Id="Rf71c73c83e9d4f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40dc56c5df4e82" /><Relationship Type="http://schemas.openxmlformats.org/officeDocument/2006/relationships/notesMaster" Target="/ppt/notesMasters/notesMaster1.xml" Id="R75879d8703aa47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e55d2b3a8d4b2e" /><Relationship Type="http://schemas.openxmlformats.org/officeDocument/2006/relationships/notesMaster" Target="/ppt/notesMasters/notesMaster1.xml" Id="Rd77fc3a88d1440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36bb8700254d41" /><Relationship Type="http://schemas.openxmlformats.org/officeDocument/2006/relationships/notesMaster" Target="/ppt/notesMasters/notesMaster1.xml" Id="R101a97b21b3c4d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852dc608b745a3" /><Relationship Type="http://schemas.openxmlformats.org/officeDocument/2006/relationships/notesMaster" Target="/ppt/notesMasters/notesMaster1.xml" Id="R37bc3047f06c4f5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0ba31a20aa4923" /><Relationship Type="http://schemas.openxmlformats.org/officeDocument/2006/relationships/notesMaster" Target="/ppt/notesMasters/notesMaster1.xml" Id="R81607f6b65f747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cd226fa7fc4fa7" /><Relationship Type="http://schemas.openxmlformats.org/officeDocument/2006/relationships/notesMaster" Target="/ppt/notesMasters/notesMaster1.xml" Id="Raf16571c2f5f46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Presentación Pethub y guía del proyecto proporcionadas por el equipo. Logotipo extraído de la PPT original.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Presentación Pethub y guía del proyecto proporcionadas por el equipo. Logotipo extraído de la PPT original.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Presentación Pethub y guía del proyecto proporcionadas por el equipo. Logotipo extraído de la PPT original.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Pethub_Presentacion_Semana4_con_costos.pptx.pdf, diapositiva 4. Montos reproducidos como estimaciones aportadas por el equipo, no verificados en esta reconstrucción. El original atribuye referencias a Clínica Artemisa y Mevet Lab (2026), sin enlaces verificables en el PDF.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Cálculo: (335000-130000)/335000*100 = 61,194 %. No se presupone equivalencia clínica entre las alternativas. Se elimina la afirmación de disponibilidad inmediata.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Presentación Pethub y guía del proyecto proporcionadas por el equipo. Logotipo extraído de la PPT original.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Presentación Pethub y guía del proyecto proporcionadas por el equipo. Logotipo extraído de la PPT original.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Presentación Pethub y guía del proyecto proporcionadas por el equipo. Logotipo extraído de la PPT original.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Pethub_Carta_Gantt.xlsx, hoja Carta Gantt "Pethub". Actividades y semanas copiadas de las celdas coloreadas, sin usar la carta antigua del informe.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Pethub_Carta_Gantt.xlsx, hoja Carta Gantt "Pethub". Actividades y semanas copiadas de las celdas coloreadas, sin usar la carta antigua del informe.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Presentación Pethub y guía del proyecto proporcionadas por el equipo. Logotipo extraído de la PPT original.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Pethub_Historias_Usuario_3.xlsx: 17 historias con tres escenarios cada una.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Pendientes de precisión: límites de archivos, criterio de cercanía por comuna y reglas de reporte. La coincidencia de filtros no determina aptitud médica.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Presentación Pethub y guía del proyecto proporcionadas por el equipo. Logotipo extraído de la PPT original.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4ba7df336449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3b4eb0fb324e48" /><Relationship Type="http://schemas.openxmlformats.org/officeDocument/2006/relationships/slideLayout" Target="/ppt/slideLayouts/slideLayout1.xml" Id="Rb8d9b04c814c4d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d9b04c814c4d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bd279c3464292" /><Relationship Type="http://schemas.openxmlformats.org/officeDocument/2006/relationships/image" Target="/ppt/media/image.jpeg" Id="Ra669cf1819644926" /><Relationship Type="http://schemas.openxmlformats.org/officeDocument/2006/relationships/notesSlide" Target="/ppt/notesSlides/notesSlide1.xml" Id="R1add4645b64241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6d93ae21e14713" /><Relationship Type="http://schemas.openxmlformats.org/officeDocument/2006/relationships/image" Target="/ppt/media/image2.jpeg" Id="Rc208eb92a2284622" /><Relationship Type="http://schemas.openxmlformats.org/officeDocument/2006/relationships/notesSlide" Target="/ppt/notesSlides/notesSlide2.xml" Id="R8a5d8d3f85174a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da2118a764dff" /><Relationship Type="http://schemas.openxmlformats.org/officeDocument/2006/relationships/image" Target="/ppt/media/image3.jpeg" Id="Rdb511bf356744e36" /><Relationship Type="http://schemas.openxmlformats.org/officeDocument/2006/relationships/notesSlide" Target="/ppt/notesSlides/notesSlide3.xml" Id="R1896ce37e3094a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77e3c45084634" /><Relationship Type="http://schemas.openxmlformats.org/officeDocument/2006/relationships/image" Target="/ppt/media/image4.jpeg" Id="R3b326f8397ee479a" /><Relationship Type="http://schemas.openxmlformats.org/officeDocument/2006/relationships/notesSlide" Target="/ppt/notesSlides/notesSlide4.xml" Id="Rf942920d5fc942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814529a2b4442" /><Relationship Type="http://schemas.openxmlformats.org/officeDocument/2006/relationships/image" Target="/ppt/media/image5.jpeg" Id="R1bc8caed8fa54b82" /><Relationship Type="http://schemas.openxmlformats.org/officeDocument/2006/relationships/notesSlide" Target="/ppt/notesSlides/notesSlide5.xml" Id="R9f604af5085f44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fa9237b834ff1" /><Relationship Type="http://schemas.openxmlformats.org/officeDocument/2006/relationships/image" Target="/ppt/media/image6.jpeg" Id="Raa9427e46f424061" /><Relationship Type="http://schemas.openxmlformats.org/officeDocument/2006/relationships/notesSlide" Target="/ppt/notesSlides/notesSlide6.xml" Id="Re7abee198ecb49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c2affce6b4a97" /><Relationship Type="http://schemas.openxmlformats.org/officeDocument/2006/relationships/image" Target="/ppt/media/image7.jpeg" Id="Rf24517fd1090451d" /><Relationship Type="http://schemas.openxmlformats.org/officeDocument/2006/relationships/notesSlide" Target="/ppt/notesSlides/notesSlide7.xml" Id="Rfb3fc74d93c54d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a5f661dd3492e" /><Relationship Type="http://schemas.openxmlformats.org/officeDocument/2006/relationships/image" Target="/ppt/media/image8.jpeg" Id="R453c96df28b74032" /><Relationship Type="http://schemas.openxmlformats.org/officeDocument/2006/relationships/notesSlide" Target="/ppt/notesSlides/notesSlide8.xml" Id="Rb2b23e2347744f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e13515a024707" /><Relationship Type="http://schemas.openxmlformats.org/officeDocument/2006/relationships/image" Target="/ppt/media/image9.jpeg" Id="R7450a20e0a3e4676" /><Relationship Type="http://schemas.openxmlformats.org/officeDocument/2006/relationships/notesSlide" Target="/ppt/notesSlides/notesSlide9.xml" Id="R567b334d61b944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5b97faa2346cd" /><Relationship Type="http://schemas.openxmlformats.org/officeDocument/2006/relationships/image" Target="/ppt/media/image10.jpeg" Id="R710bea0e82ff4e4a" /><Relationship Type="http://schemas.openxmlformats.org/officeDocument/2006/relationships/notesSlide" Target="/ppt/notesSlides/notesSlide10.xml" Id="Rb4fdf4acb47b49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e873db652455d" /><Relationship Type="http://schemas.openxmlformats.org/officeDocument/2006/relationships/image" Target="/ppt/media/image11.jpeg" Id="R265ed46e55154f85" /><Relationship Type="http://schemas.openxmlformats.org/officeDocument/2006/relationships/notesSlide" Target="/ppt/notesSlides/notesSlide11.xml" Id="Rc71d0c5004684f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ffbe48d2a469c" /><Relationship Type="http://schemas.openxmlformats.org/officeDocument/2006/relationships/image" Target="/ppt/media/image12.jpeg" Id="Ra86dc041f15549b6" /><Relationship Type="http://schemas.openxmlformats.org/officeDocument/2006/relationships/notesSlide" Target="/ppt/notesSlides/notesSlide12.xml" Id="Ra276ad4343884e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C8726-CDD7-427F-B916-52642169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4"/>
                </a:solidFill>
              </a:defRPr>
            </a:pPr>
            <a:r>
              <a:rPr sz="1200" b="0">
                <a:solidFill>
                  <a:srgbClr val="526174"/>
                </a:solidFill>
              </a:rPr>
              <a:t>PROYECTO PETHUB · FASE 1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69cf1819644926"/>
          <a:stretch xmlns:a="http://schemas.openxmlformats.org/drawingml/2006/main"/>
        </p:blipFill>
        <p:spPr>
          <a:xfrm xmlns:a="http://schemas.openxmlformats.org/drawingml/2006/main">
            <a:off x="8858250" y="211931"/>
            <a:ext cx="2724150" cy="68103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55B86-8983-4655-B158-3B676638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4"/>
                </a:solidFill>
              </a:defRPr>
            </a:pPr>
            <a:r>
              <a:rPr sz="1200" b="0">
                <a:solidFill>
                  <a:srgbClr val="526174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8A8DD1-2E99-4789-A97E-5CCAFA01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203864"/>
                </a:solidFill>
              </a:defRPr>
            </a:pPr>
            <a:r>
              <a:rPr sz="5550" b="1">
                <a:solidFill>
                  <a:srgbClr val="203864"/>
                </a:solidFill>
              </a:rPr>
              <a:t>PETHUB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91441-5169-428A-9F74-54CE2A77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0252B"/>
                </a:solidFill>
              </a:defRPr>
            </a:pPr>
            <a:r>
              <a:rPr sz="2625" b="0">
                <a:solidFill>
                  <a:srgbClr val="20252B"/>
                </a:solidFill>
              </a:rPr>
              <a:t>Carnet sanitario digital y red de donantes</a:t>
            </a:r>
          </a:p>
          <a:p xmlns:a="http://schemas.openxmlformats.org/drawingml/2006/main">
            <a:pPr>
              <a:defRPr sz="2625" b="0">
                <a:solidFill>
                  <a:srgbClr val="20252B"/>
                </a:solidFill>
              </a:defRPr>
            </a:pPr>
            <a:r>
              <a:rPr sz="2625" b="0">
                <a:solidFill>
                  <a:srgbClr val="20252B"/>
                </a:solidFill>
              </a:rPr>
              <a:t>de sangre para mascotas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61566-3D44-454F-B72E-068CC529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</a:defRPr>
            </a:pPr>
            <a:r>
              <a:rPr sz="1800" b="0">
                <a:solidFill>
                  <a:srgbClr val="526174"/>
                </a:solidFill>
              </a:rPr>
              <a:t>Proyecto APT · Ingeniería en Informática · Valparaíso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D7E9F-6C34-432A-8325-025E3C85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</a:defRPr>
            </a:pPr>
            <a:r>
              <a:rPr sz="1800" b="0">
                <a:solidFill>
                  <a:srgbClr val="526174"/>
                </a:solidFill>
              </a:rPr>
              <a:t>Evelyn Barrera Guevara · Paulina Escudero Díaz</a:t>
            </a:r>
          </a:p>
        </p:txBody>
      </p:sp>
    </p:spTree>
    <p:extLst>
      <p:ext uri="{BB962C8B-B14F-4D97-AF65-F5344CB8AC3E}">
        <p14:creationId xmlns:p14="http://schemas.microsoft.com/office/powerpoint/2010/main" val="5349888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56BB75-A7F5-4CE1-9234-8A9C9D27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4"/>
                </a:solidFill>
              </a:defRPr>
            </a:pPr>
            <a:r>
              <a:rPr sz="1200" b="0">
                <a:solidFill>
                  <a:srgbClr val="526174"/>
                </a:solidFill>
              </a:rPr>
              <a:t>PROYECTO PETHUB · FASE 1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08eb92a2284622"/>
          <a:stretch xmlns:a="http://schemas.openxmlformats.org/drawingml/2006/main"/>
        </p:blipFill>
        <p:spPr>
          <a:xfrm xmlns:a="http://schemas.openxmlformats.org/drawingml/2006/main">
            <a:off x="8858250" y="211931"/>
            <a:ext cx="2724150" cy="68103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2062C-928E-4CE5-8EBF-B78E44BF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3864"/>
                </a:solidFill>
              </a:defRPr>
            </a:pPr>
            <a:r>
              <a:rPr sz="3000" b="1">
                <a:solidFill>
                  <a:srgbClr val="203864"/>
                </a:solidFill>
              </a:rPr>
              <a:t>Integrantes y responsabilidades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5FED1-D0DA-4B92-920D-9A802B97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4"/>
                </a:solidFill>
              </a:defRPr>
            </a:pPr>
            <a:r>
              <a:rPr sz="1200" b="0">
                <a:solidFill>
                  <a:srgbClr val="526174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1096C-3057-4546-95CD-6735668D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B9BD5"/>
                </a:solidFill>
              </a:defRPr>
            </a:pPr>
            <a:r>
              <a:rPr sz="2550" b="1">
                <a:solidFill>
                  <a:srgbClr val="5B9BD5"/>
                </a:solidFill>
              </a:rPr>
              <a:t>Evelyn Barrera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E0652-0023-4BDE-9A95-34DC1AC1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3864"/>
                </a:solidFill>
              </a:defRPr>
            </a:pPr>
            <a:r>
              <a:rPr sz="2025" b="1">
                <a:solidFill>
                  <a:srgbClr val="203864"/>
                </a:solidFill>
              </a:rPr>
              <a:t>Backend, datos y arquitectura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65774-258A-47E3-B77C-DFBB1F10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52B"/>
                </a:solidFill>
              </a:defRPr>
            </a:pPr>
            <a:r>
              <a:rPr sz="2100" b="0">
                <a:solidFill>
                  <a:srgbClr val="20252B"/>
                </a:solidFill>
              </a:rPr>
              <a:t>API REST, modelo de datos,</a:t>
            </a:r>
          </a:p>
          <a:p xmlns:a="http://schemas.openxmlformats.org/drawingml/2006/main">
            <a:pPr>
              <a:defRPr sz="2100" b="0">
                <a:solidFill>
                  <a:srgbClr val="20252B"/>
                </a:solidFill>
              </a:defRPr>
            </a:pPr>
            <a:r>
              <a:rPr sz="2100" b="0">
                <a:solidFill>
                  <a:srgbClr val="20252B"/>
                </a:solidFill>
              </a:rPr>
              <a:t>autenticación y chat en tiempo real.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55B6F3-EBD7-4F07-A714-D28AA3AE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43125"/>
            <a:ext cx="5029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B9BD5"/>
                </a:solidFill>
              </a:defRPr>
            </a:pPr>
            <a:r>
              <a:rPr sz="2550" b="1">
                <a:solidFill>
                  <a:srgbClr val="5B9BD5"/>
                </a:solidFill>
              </a:rPr>
              <a:t>Paulina Escudero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BEE4A-9124-4BFB-A4AA-035805F2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62250"/>
            <a:ext cx="502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3864"/>
                </a:solidFill>
              </a:defRPr>
            </a:pPr>
            <a:r>
              <a:rPr sz="2025" b="1">
                <a:solidFill>
                  <a:srgbClr val="203864"/>
                </a:solidFill>
              </a:rPr>
              <a:t>Frontend y experiencia de usuario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B6299F-A8F0-44BB-85DE-2189D5B9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90900"/>
            <a:ext cx="5029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52B"/>
                </a:solidFill>
              </a:defRPr>
            </a:pPr>
            <a:r>
              <a:rPr sz="2100" b="0">
                <a:solidFill>
                  <a:srgbClr val="20252B"/>
                </a:solidFill>
              </a:rPr>
              <a:t>Interfaz Angular/Ionic, diseño en</a:t>
            </a:r>
          </a:p>
          <a:p xmlns:a="http://schemas.openxmlformats.org/drawingml/2006/main">
            <a:pPr>
              <a:defRPr sz="2100" b="0">
                <a:solidFill>
                  <a:srgbClr val="20252B"/>
                </a:solidFill>
              </a:defRPr>
            </a:pPr>
            <a:r>
              <a:rPr sz="2100" b="0">
                <a:solidFill>
                  <a:srgbClr val="20252B"/>
                </a:solidFill>
              </a:rPr>
              <a:t>Figma y pruebas de usabilidad.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98566B-9C78-4524-9B1D-2217F5AB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</a:defRPr>
            </a:pPr>
            <a:r>
              <a:rPr sz="1875" b="0">
                <a:solidFill>
                  <a:srgbClr val="526174"/>
                </a:solidFill>
              </a:rPr>
              <a:t>Ambas: requisitos, integración, pruebas y documentación del proyecto.</a:t>
            </a:r>
          </a:p>
        </p:txBody>
      </p:sp>
    </p:spTree>
    <p:extLst>
      <p:ext uri="{BB962C8B-B14F-4D97-AF65-F5344CB8AC3E}">
        <p14:creationId xmlns:p14="http://schemas.microsoft.com/office/powerpoint/2010/main" val="7970741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270AFB-E779-4094-909C-C15E6A37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4"/>
                </a:solidFill>
              </a:defRPr>
            </a:pPr>
            <a:r>
              <a:rPr sz="1200" b="0">
                <a:solidFill>
                  <a:srgbClr val="526174"/>
                </a:solidFill>
              </a:rPr>
              <a:t>PROYECTO PETHUB · FASE 1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511bf356744e36"/>
          <a:stretch xmlns:a="http://schemas.openxmlformats.org/drawingml/2006/main"/>
        </p:blipFill>
        <p:spPr>
          <a:xfrm xmlns:a="http://schemas.openxmlformats.org/drawingml/2006/main">
            <a:off x="8858250" y="211931"/>
            <a:ext cx="2724150" cy="68103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0FB0A-D3AC-4A15-8A90-7104AAFE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3864"/>
                </a:solidFill>
              </a:defRPr>
            </a:pPr>
            <a:r>
              <a:rPr sz="3000" b="1">
                <a:solidFill>
                  <a:srgbClr val="203864"/>
                </a:solidFill>
              </a:rPr>
              <a:t>Problema y propuesta de solución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E727E-17FB-4588-AA66-5954A5FC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4"/>
                </a:solidFill>
              </a:defRPr>
            </a:pPr>
            <a:r>
              <a:rPr sz="1200" b="0">
                <a:solidFill>
                  <a:srgbClr val="526174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1AB6C6-D93F-4350-AAC6-833D7F98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03864"/>
                </a:solidFill>
              </a:defRPr>
            </a:pPr>
            <a:r>
              <a:rPr sz="2400" b="1">
                <a:solidFill>
                  <a:srgbClr val="203864"/>
                </a:solidFill>
              </a:rPr>
              <a:t>El problema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7287F-51DD-4410-A448-E225AAEA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953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52B"/>
                </a:solidFill>
              </a:defRPr>
            </a:pPr>
            <a:r>
              <a:rPr sz="2100" b="0">
                <a:solidFill>
                  <a:srgbClr val="20252B"/>
                </a:solidFill>
              </a:rPr>
              <a:t>La búsqueda de donantes depende de redes sociales y contactos personales.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0252B"/>
                </a:solidFill>
              </a:defRPr>
            </a:pPr>
            <a:r>
              <a:rPr sz="2100" b="0">
                <a:solidFill>
                  <a:srgbClr val="20252B"/>
                </a:solidFill>
              </a:rPr>
              <a:t>La información sanitaria está dispersa y dificulta la coordinación.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B1FD0-AD5B-45B1-BEA7-4D70CB2E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47875"/>
            <a:ext cx="5029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03864"/>
                </a:solidFill>
              </a:defRPr>
            </a:pPr>
            <a:r>
              <a:rPr sz="2400" b="1">
                <a:solidFill>
                  <a:srgbClr val="203864"/>
                </a:solidFill>
              </a:rPr>
              <a:t>La propuesta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7BCFB-265F-4DEC-AB3E-3682B0F7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14625"/>
            <a:ext cx="50292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52B"/>
                </a:solidFill>
              </a:defRPr>
            </a:pPr>
            <a:r>
              <a:rPr sz="2100" b="0">
                <a:solidFill>
                  <a:srgbClr val="20252B"/>
                </a:solidFill>
              </a:rPr>
              <a:t>Centralizar el carnet sanitario y el registro voluntario de donantes.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0252B"/>
                </a:solidFill>
              </a:defRPr>
            </a:pPr>
            <a:r>
              <a:rPr sz="2100" b="0">
                <a:solidFill>
                  <a:srgbClr val="20252B"/>
                </a:solidFill>
              </a:rPr>
              <a:t>Buscar por especie, grupo declarado y comuna; coordinar por chat.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8D2AB9-D3B1-4733-B285-E960BB31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174"/>
                </a:solidFill>
              </a:defRPr>
            </a:pPr>
            <a:r>
              <a:rPr sz="1725" b="0">
                <a:solidFill>
                  <a:srgbClr val="526174"/>
                </a:solidFill>
              </a:rPr>
              <a:t>La aplicación facilita el contacto; la evaluación médica corresponde al veterinario.</a:t>
            </a:r>
          </a:p>
        </p:txBody>
      </p:sp>
    </p:spTree>
    <p:extLst>
      <p:ext uri="{BB962C8B-B14F-4D97-AF65-F5344CB8AC3E}">
        <p14:creationId xmlns:p14="http://schemas.microsoft.com/office/powerpoint/2010/main" val="17398724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D8BD78-7D16-4B7E-BBAF-3B38785F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4"/>
                </a:solidFill>
              </a:defRPr>
            </a:pPr>
            <a:r>
              <a:rPr sz="1200" b="0">
                <a:solidFill>
                  <a:srgbClr val="526174"/>
                </a:solidFill>
              </a:rPr>
              <a:t>PROYECTO PETHUB · FASE 1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326f8397ee479a"/>
          <a:stretch xmlns:a="http://schemas.openxmlformats.org/drawingml/2006/main"/>
        </p:blipFill>
        <p:spPr>
          <a:xfrm xmlns:a="http://schemas.openxmlformats.org/drawingml/2006/main">
            <a:off x="8858250" y="211931"/>
            <a:ext cx="2724150" cy="68103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1FEEC-4E88-4660-B684-620741E4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3864"/>
                </a:solidFill>
              </a:defRPr>
            </a:pPr>
            <a:r>
              <a:rPr sz="3000" b="1">
                <a:solidFill>
                  <a:srgbClr val="203864"/>
                </a:solidFill>
              </a:rPr>
              <a:t>Costos: escenario ilustrativo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6F5179-A6EB-450D-AA23-929C54E9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4"/>
                </a:solidFill>
              </a:defRPr>
            </a:pPr>
            <a:r>
              <a:rPr sz="1200" b="0">
                <a:solidFill>
                  <a:srgbClr val="526174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6CBF6-15C6-4E23-A69A-1DCDCFFE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7572375" cy="614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Escenario del documento original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EFF64-9A49-4975-AE89-CDA6A3BE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095500"/>
            <a:ext cx="3400425" cy="614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Monto estimado (CLP)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2D3D1E-345B-4675-B20C-D5D37637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9863"/>
            <a:ext cx="7572375" cy="614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52B"/>
                </a:solidFill>
              </a:defRPr>
            </a:pPr>
            <a:r>
              <a:rPr sz="2100" b="0">
                <a:solidFill>
                  <a:srgbClr val="20252B"/>
                </a:solidFill>
              </a:rPr>
              <a:t>Banco de sangre + procedimiento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0F297-2B2B-4248-AC38-CD003286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09863"/>
            <a:ext cx="3400425" cy="614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52B"/>
                </a:solidFill>
              </a:defRPr>
            </a:pPr>
            <a:r>
              <a:rPr sz="2100" b="0">
                <a:solidFill>
                  <a:srgbClr val="20252B"/>
                </a:solidFill>
              </a:rPr>
              <a:t>$335.000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6368E-773A-4F25-A3D9-5E28D968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7572375" cy="614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52B"/>
                </a:solidFill>
              </a:defRPr>
            </a:pPr>
            <a:r>
              <a:rPr sz="2100" b="0">
                <a:solidFill>
                  <a:srgbClr val="20252B"/>
                </a:solidFill>
              </a:rPr>
              <a:t>Donante directo + procedimiento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9A0749-EF90-4BB9-889C-DA434B62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3400425" cy="614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52B"/>
                </a:solidFill>
              </a:defRPr>
            </a:pPr>
            <a:r>
              <a:rPr sz="2100" b="0">
                <a:solidFill>
                  <a:srgbClr val="20252B"/>
                </a:solidFill>
              </a:rPr>
              <a:t>$130.000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35CB8-2849-40EF-897F-541FC9D1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8588"/>
            <a:ext cx="7572375" cy="614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52B"/>
                </a:solidFill>
              </a:defRPr>
            </a:pPr>
            <a:r>
              <a:rPr sz="2100" b="0">
                <a:solidFill>
                  <a:srgbClr val="20252B"/>
                </a:solidFill>
              </a:rPr>
              <a:t>Diferencia del ejemplo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975E35-B82E-4602-8F49-E326545C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938588"/>
            <a:ext cx="3400425" cy="614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52B"/>
                </a:solidFill>
              </a:defRPr>
            </a:pPr>
            <a:r>
              <a:rPr sz="2100" b="0">
                <a:solidFill>
                  <a:srgbClr val="20252B"/>
                </a:solidFill>
              </a:rPr>
              <a:t>$205.000 (61,2 %)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7E5000-B635-4347-8CBC-B4221097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3864"/>
                </a:solidFill>
              </a:defRPr>
            </a:pPr>
            <a:r>
              <a:rPr sz="2100" b="1">
                <a:solidFill>
                  <a:srgbClr val="203864"/>
                </a:solidFill>
              </a:rPr>
              <a:t>No es una cotización ni un ahorro garantizado.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681DA8-2AF5-4AC2-AC9C-24E144EC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</a:defRPr>
            </a:pPr>
            <a:r>
              <a:rPr sz="1800" b="0">
                <a:solidFill>
                  <a:srgbClr val="526174"/>
                </a:solidFill>
              </a:rPr>
              <a:t>Validar exámenes, tipificación, extracción, insumos, traslado y procedimiento con cada clínica. La disponibilidad de donantes no está garantizada.</a:t>
            </a:r>
          </a:p>
        </p:txBody>
      </p:sp>
    </p:spTree>
    <p:extLst>
      <p:ext uri="{BB962C8B-B14F-4D97-AF65-F5344CB8AC3E}">
        <p14:creationId xmlns:p14="http://schemas.microsoft.com/office/powerpoint/2010/main" val="2147331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8E00A7-3DB1-4C3D-8CF5-A63F8573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4"/>
                </a:solidFill>
              </a:defRPr>
            </a:pPr>
            <a:r>
              <a:rPr sz="1200" b="0">
                <a:solidFill>
                  <a:srgbClr val="526174"/>
                </a:solidFill>
              </a:rPr>
              <a:t>PROYECTO PETHUB · FASE 1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c8caed8fa54b82"/>
          <a:stretch xmlns:a="http://schemas.openxmlformats.org/drawingml/2006/main"/>
        </p:blipFill>
        <p:spPr>
          <a:xfrm xmlns:a="http://schemas.openxmlformats.org/drawingml/2006/main">
            <a:off x="8858250" y="211931"/>
            <a:ext cx="2724150" cy="68103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D1CBB5-D538-45C9-A393-E5B83772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3864"/>
                </a:solidFill>
              </a:defRPr>
            </a:pPr>
            <a:r>
              <a:rPr sz="3000" b="1">
                <a:solidFill>
                  <a:srgbClr val="203864"/>
                </a:solidFill>
              </a:rPr>
              <a:t>Objetivo general y objetivos específicos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4F56B-F40C-4116-AD49-B82D21A6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4"/>
                </a:solidFill>
              </a:defRPr>
            </a:pPr>
            <a:r>
              <a:rPr sz="1200" b="0">
                <a:solidFill>
                  <a:srgbClr val="526174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71A16-B0DD-4ED4-8469-D21A6DCB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864"/>
                </a:solidFill>
              </a:defRPr>
            </a:pPr>
            <a:r>
              <a:rPr sz="2175" b="0">
                <a:solidFill>
                  <a:srgbClr val="203864"/>
                </a:solidFill>
              </a:rPr>
              <a:t>Desarrollar una aplicación móvil que centralice la información sanitaria y conecte a cuidadores de mascotas donantes con quienes requieren una transfusión.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595D3-184D-4446-824C-173BE7C4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52B"/>
                </a:solidFill>
              </a:defRPr>
            </a:pPr>
            <a:r>
              <a:rPr sz="1950" b="0">
                <a:solidFill>
                  <a:srgbClr val="20252B"/>
                </a:solidFill>
              </a:rPr>
              <a:t>1. Diseñar el carnet sanitario digital y sus documentos.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353159-A49D-4D41-B9AC-54A2CB14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52B"/>
                </a:solidFill>
              </a:defRPr>
            </a:pPr>
            <a:r>
              <a:rPr sz="1950" b="0">
                <a:solidFill>
                  <a:srgbClr val="20252B"/>
                </a:solidFill>
              </a:rPr>
              <a:t>2. Registrar donantes y buscarlos por filtros.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473BC-8D65-46DA-8FA0-A64FB11A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52B"/>
                </a:solidFill>
              </a:defRPr>
            </a:pPr>
            <a:r>
              <a:rPr sz="1950" b="0">
                <a:solidFill>
                  <a:srgbClr val="20252B"/>
                </a:solidFill>
              </a:rPr>
              <a:t>3. Gestionar solicitudes, chat y notificaciones urgentes.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66733D-BDAC-4270-8AC0-1FBAD745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52B"/>
                </a:solidFill>
              </a:defRPr>
            </a:pPr>
            <a:r>
              <a:rPr sz="1950" b="0">
                <a:solidFill>
                  <a:srgbClr val="20252B"/>
                </a:solidFill>
              </a:rPr>
              <a:t>4. Incorporar un foro con moderación básica.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3F139-7263-4544-9ABE-20F4192B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52B"/>
                </a:solidFill>
              </a:defRPr>
            </a:pPr>
            <a:r>
              <a:rPr sz="1950" b="0">
                <a:solidFill>
                  <a:srgbClr val="20252B"/>
                </a:solidFill>
              </a:rPr>
              <a:t>5. Validar la usabilidad con cuidadores y/o veterinarios.</a:t>
            </a:r>
          </a:p>
        </p:txBody>
      </p:sp>
    </p:spTree>
    <p:extLst>
      <p:ext uri="{BB962C8B-B14F-4D97-AF65-F5344CB8AC3E}">
        <p14:creationId xmlns:p14="http://schemas.microsoft.com/office/powerpoint/2010/main" val="19521487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64EE5F-AF6E-4F18-B9F5-9BE36541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4"/>
                </a:solidFill>
              </a:defRPr>
            </a:pPr>
            <a:r>
              <a:rPr sz="1200" b="0">
                <a:solidFill>
                  <a:srgbClr val="526174"/>
                </a:solidFill>
              </a:rPr>
              <a:t>PROYECTO PETHUB · FASE 1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9427e46f424061"/>
          <a:stretch xmlns:a="http://schemas.openxmlformats.org/drawingml/2006/main"/>
        </p:blipFill>
        <p:spPr>
          <a:xfrm xmlns:a="http://schemas.openxmlformats.org/drawingml/2006/main">
            <a:off x="8858250" y="211931"/>
            <a:ext cx="2724150" cy="68103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52AE93-534B-41FD-B549-77CC845B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3864"/>
                </a:solidFill>
              </a:defRPr>
            </a:pPr>
            <a:r>
              <a:rPr sz="3000" b="1">
                <a:solidFill>
                  <a:srgbClr val="203864"/>
                </a:solidFill>
              </a:rPr>
              <a:t>Alcances y limitaciones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4CFF2-15CC-4090-B1DB-CB8DD9D3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4"/>
                </a:solidFill>
              </a:defRPr>
            </a:pPr>
            <a:r>
              <a:rPr sz="1200" b="0">
                <a:solidFill>
                  <a:srgbClr val="526174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87AB8B-60BC-49B6-AAF6-FF1F656E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5191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03864"/>
                </a:solidFill>
              </a:defRPr>
            </a:pPr>
            <a:r>
              <a:rPr sz="2325" b="1">
                <a:solidFill>
                  <a:srgbClr val="203864"/>
                </a:solidFill>
              </a:rPr>
              <a:t>Incluido en el proyecto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030E8-890E-4AD7-B965-7AB4D50E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191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52B"/>
                </a:solidFill>
              </a:defRPr>
            </a:pPr>
            <a:r>
              <a:rPr sz="1875" b="0">
                <a:solidFill>
                  <a:srgbClr val="20252B"/>
                </a:solidFill>
              </a:rPr>
              <a:t>Carnet sanitario, documentos y QR.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9FF12-8DCA-4CB9-9068-17802CA8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5191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52B"/>
                </a:solidFill>
              </a:defRPr>
            </a:pPr>
            <a:r>
              <a:rPr sz="1875" b="0">
                <a:solidFill>
                  <a:srgbClr val="20252B"/>
                </a:solidFill>
              </a:rPr>
              <a:t>Registro y búsqueda de donantes.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823F6-99C5-4B24-ADBD-252E6165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5191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52B"/>
                </a:solidFill>
              </a:defRPr>
            </a:pPr>
            <a:r>
              <a:rPr sz="1875" b="0">
                <a:solidFill>
                  <a:srgbClr val="20252B"/>
                </a:solidFill>
              </a:rPr>
              <a:t>Solicitudes, chat y notificaciones.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126108-38F5-4674-9A11-6FEF31ED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5191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52B"/>
                </a:solidFill>
              </a:defRPr>
            </a:pPr>
            <a:r>
              <a:rPr sz="1875" b="0">
                <a:solidFill>
                  <a:srgbClr val="20252B"/>
                </a:solidFill>
              </a:rPr>
              <a:t>Recordatorios de vacunas.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798DB9-3926-43A6-8239-D0A21493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5191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52B"/>
                </a:solidFill>
              </a:defRPr>
            </a:pPr>
            <a:r>
              <a:rPr sz="1875" b="0">
                <a:solidFill>
                  <a:srgbClr val="20252B"/>
                </a:solidFill>
              </a:rPr>
              <a:t>Foro, comentarios y búsqueda.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64BD6-B83A-44E1-A1DD-007BCD66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990725"/>
            <a:ext cx="5038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03864"/>
                </a:solidFill>
              </a:defRPr>
            </a:pPr>
            <a:r>
              <a:rPr sz="2325" b="1">
                <a:solidFill>
                  <a:srgbClr val="203864"/>
                </a:solidFill>
              </a:rPr>
              <a:t>Fuera de alcance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EEFF69-CFDD-4085-8BC6-D36C8CCC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705100"/>
            <a:ext cx="5038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52B"/>
                </a:solidFill>
              </a:defRPr>
            </a:pPr>
            <a:r>
              <a:rPr sz="1875" b="0">
                <a:solidFill>
                  <a:srgbClr val="20252B"/>
                </a:solidFill>
              </a:rPr>
              <a:t>Validar aptitud médica desde la app.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4F268F-3CED-43DC-9D1D-93733ADA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314700"/>
            <a:ext cx="5038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52B"/>
                </a:solidFill>
              </a:defRPr>
            </a:pPr>
            <a:r>
              <a:rPr sz="1875" b="0">
                <a:solidFill>
                  <a:srgbClr val="20252B"/>
                </a:solidFill>
              </a:rPr>
              <a:t>Garantizar compatibilidad o donantes.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C59E70-9577-4FA7-947B-6382B9D0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924300"/>
            <a:ext cx="5038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52B"/>
                </a:solidFill>
              </a:defRPr>
            </a:pPr>
            <a:r>
              <a:rPr sz="1875" b="0">
                <a:solidFill>
                  <a:srgbClr val="20252B"/>
                </a:solidFill>
              </a:rPr>
              <a:t>Verificar certificados automáticamente.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612F1A-3C9F-4C38-853B-2F957796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533900"/>
            <a:ext cx="5038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52B"/>
                </a:solidFill>
              </a:defRPr>
            </a:pPr>
            <a:r>
              <a:rPr sz="1875" b="0">
                <a:solidFill>
                  <a:srgbClr val="20252B"/>
                </a:solidFill>
              </a:rPr>
              <a:t>GPS preciso e integración con clínicas.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64567B-1908-43D1-9B20-0F9B4406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143500"/>
            <a:ext cx="5038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0252B"/>
                </a:solidFill>
              </a:defRPr>
            </a:pPr>
            <a:r>
              <a:rPr sz="1875" b="0">
                <a:solidFill>
                  <a:srgbClr val="20252B"/>
                </a:solidFill>
              </a:rPr>
              <a:t>Moderación avanzada y reputación.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D29598-66C0-4F13-9E42-8ABA3D12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8647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174"/>
                </a:solidFill>
              </a:defRPr>
            </a:pPr>
            <a:r>
              <a:rPr sz="1725" b="0">
                <a:solidFill>
                  <a:srgbClr val="526174"/>
                </a:solidFill>
              </a:rPr>
              <a:t>Foco inicial: perros y gatos. La ubicación se registra por comuna.</a:t>
            </a:r>
          </a:p>
        </p:txBody>
      </p:sp>
    </p:spTree>
    <p:extLst>
      <p:ext uri="{BB962C8B-B14F-4D97-AF65-F5344CB8AC3E}">
        <p14:creationId xmlns:p14="http://schemas.microsoft.com/office/powerpoint/2010/main" val="16102879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5F6268-691E-407A-A099-11994373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4"/>
                </a:solidFill>
              </a:defRPr>
            </a:pPr>
            <a:r>
              <a:rPr sz="1200" b="0">
                <a:solidFill>
                  <a:srgbClr val="526174"/>
                </a:solidFill>
              </a:rPr>
              <a:t>PROYECTO PETHUB · FASE 1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4517fd1090451d"/>
          <a:stretch xmlns:a="http://schemas.openxmlformats.org/drawingml/2006/main"/>
        </p:blipFill>
        <p:spPr>
          <a:xfrm xmlns:a="http://schemas.openxmlformats.org/drawingml/2006/main">
            <a:off x="8858250" y="211931"/>
            <a:ext cx="2724150" cy="68103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4F9F2-F325-47EB-81B0-FADE19BE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3864"/>
                </a:solidFill>
              </a:defRPr>
            </a:pPr>
            <a:r>
              <a:rPr sz="3000" b="1">
                <a:solidFill>
                  <a:srgbClr val="203864"/>
                </a:solidFill>
              </a:rPr>
              <a:t>Metodología: Scrum adaptado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59506-2FA8-48F0-A879-974650BB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4"/>
                </a:solidFill>
              </a:defRPr>
            </a:pPr>
            <a:r>
              <a:rPr sz="1200" b="0">
                <a:solidFill>
                  <a:srgbClr val="526174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89CC67-5A2C-4912-AD02-4E7492E5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76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Etapa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DD3FC-2AC4-4DE5-9297-F342B419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002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Periodo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17063-8A05-4755-BDBE-538A60FA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000250"/>
            <a:ext cx="5734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Resultado esperado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F3F8C1-B4E9-4D85-8F7E-3BF507BB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76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52B"/>
                </a:solidFill>
              </a:defRPr>
            </a:pPr>
            <a:r>
              <a:rPr sz="1800" b="0">
                <a:solidFill>
                  <a:srgbClr val="20252B"/>
                </a:solidFill>
              </a:rPr>
              <a:t>Definición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86E11-6B4F-4B72-8E23-20FBF136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908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52B"/>
                </a:solidFill>
              </a:defRPr>
            </a:pPr>
            <a:r>
              <a:rPr sz="1800" b="0">
                <a:solidFill>
                  <a:srgbClr val="20252B"/>
                </a:solidFill>
              </a:rPr>
              <a:t>Semanas 1–4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FC92B0-ADED-4EA1-ACE9-2715759F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90800"/>
            <a:ext cx="5734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52B"/>
                </a:solidFill>
              </a:defRPr>
            </a:pPr>
            <a:r>
              <a:rPr sz="1800" b="0">
                <a:solidFill>
                  <a:srgbClr val="20252B"/>
                </a:solidFill>
              </a:rPr>
              <a:t>Alcance, requisitos y arquitectura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E1A40F-FB32-4F2E-95EC-ECE8419E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276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52B"/>
                </a:solidFill>
              </a:defRPr>
            </a:pPr>
            <a:r>
              <a:rPr sz="1800" b="0">
                <a:solidFill>
                  <a:srgbClr val="20252B"/>
                </a:solidFill>
              </a:rPr>
              <a:t>Cinco sprints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D69F88-8FE0-4544-B37F-9666DA18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813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52B"/>
                </a:solidFill>
              </a:defRPr>
            </a:pPr>
            <a:r>
              <a:rPr sz="1800" b="0">
                <a:solidFill>
                  <a:srgbClr val="20252B"/>
                </a:solidFill>
              </a:rPr>
              <a:t>Semanas 5–14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5749C-9CD6-4C29-8691-927C6AD8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81350"/>
            <a:ext cx="5734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52B"/>
                </a:solidFill>
              </a:defRPr>
            </a:pPr>
            <a:r>
              <a:rPr sz="1800" b="0">
                <a:solidFill>
                  <a:srgbClr val="20252B"/>
                </a:solidFill>
              </a:rPr>
              <a:t>Incrementos funcionales cada 2 semanas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F2DAF8-EC08-4EC2-84C0-50BB7257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276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52B"/>
                </a:solidFill>
              </a:defRPr>
            </a:pPr>
            <a:r>
              <a:rPr sz="1800" b="0">
                <a:solidFill>
                  <a:srgbClr val="20252B"/>
                </a:solidFill>
              </a:rPr>
              <a:t>Cierre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79B968-665A-45EC-B237-B0B4D688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719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52B"/>
                </a:solidFill>
              </a:defRPr>
            </a:pPr>
            <a:r>
              <a:rPr sz="1800" b="0">
                <a:solidFill>
                  <a:srgbClr val="20252B"/>
                </a:solidFill>
              </a:rPr>
              <a:t>Semana 15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722BDD-9C50-41D9-80B9-34BF21FC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771900"/>
            <a:ext cx="5734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52B"/>
                </a:solidFill>
              </a:defRPr>
            </a:pPr>
            <a:r>
              <a:rPr sz="1800" b="0">
                <a:solidFill>
                  <a:srgbClr val="20252B"/>
                </a:solidFill>
              </a:rPr>
              <a:t>Pruebas integrales e informe final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24BC88-A4AF-4E0C-9987-55DDC4B5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276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52B"/>
                </a:solidFill>
              </a:defRPr>
            </a:pPr>
            <a:r>
              <a:rPr sz="1800" b="0">
                <a:solidFill>
                  <a:srgbClr val="20252B"/>
                </a:solidFill>
              </a:rPr>
              <a:t>Presentación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437593-2935-457F-9135-5D18005F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624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52B"/>
                </a:solidFill>
              </a:defRPr>
            </a:pPr>
            <a:r>
              <a:rPr sz="1800" b="0">
                <a:solidFill>
                  <a:srgbClr val="20252B"/>
                </a:solidFill>
              </a:rPr>
              <a:t>Semanas 16–18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D3EA9A-90CD-47C1-B62E-0EC75A8D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362450"/>
            <a:ext cx="5734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52B"/>
                </a:solidFill>
              </a:defRPr>
            </a:pPr>
            <a:r>
              <a:rPr sz="1800" b="0">
                <a:solidFill>
                  <a:srgbClr val="20252B"/>
                </a:solidFill>
              </a:rPr>
              <a:t>Preparación, ensayo y comisión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4494BE-2AFE-4717-9023-7AD536D4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3864"/>
                </a:solidFill>
              </a:defRPr>
            </a:pPr>
            <a:r>
              <a:rPr sz="2025" b="1">
                <a:solidFill>
                  <a:srgbClr val="203864"/>
                </a:solidFill>
              </a:rPr>
              <a:t>Cada sprint: planificación, revisión y retrospectiva.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9BA2C6-84FE-414C-8933-192ACE27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174"/>
                </a:solidFill>
              </a:defRPr>
            </a:pPr>
            <a:r>
              <a:rPr sz="1725" b="0">
                <a:solidFill>
                  <a:srgbClr val="526174"/>
                </a:solidFill>
              </a:rPr>
              <a:t>Terminado = código integrado, pruebas ejecutadas y documentación actualizada.</a:t>
            </a:r>
          </a:p>
          <a:p xmlns:a="http://schemas.openxmlformats.org/drawingml/2006/main">
            <a:pPr>
              <a:defRPr sz="1725" b="0">
                <a:solidFill>
                  <a:srgbClr val="526174"/>
                </a:solidFill>
              </a:defRPr>
            </a:pPr>
            <a:r>
              <a:rPr sz="1725" b="0">
                <a:solidFill>
                  <a:srgbClr val="526174"/>
                </a:solidFill>
              </a:rPr>
              <a:t>Hito intermedio: Informe de Avance en la semana 10.</a:t>
            </a:r>
          </a:p>
        </p:txBody>
      </p:sp>
    </p:spTree>
    <p:extLst>
      <p:ext uri="{BB962C8B-B14F-4D97-AF65-F5344CB8AC3E}">
        <p14:creationId xmlns:p14="http://schemas.microsoft.com/office/powerpoint/2010/main" val="7330050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24CA361E-1C7A-43B5-8A6F-B4375542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4"/>
                </a:solidFill>
              </a:defRPr>
            </a:pPr>
            <a:r>
              <a:rPr sz="1200" b="0">
                <a:solidFill>
                  <a:srgbClr val="526174"/>
                </a:solidFill>
              </a:rPr>
              <a:t>PROYECTO PETHUB · FASE 1</a:t>
            </a:r>
          </a:p>
        </p:txBody>
      </p:sp>
      <p:pic>
        <p:nvPicPr>
          <p:cNvPr id="1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3c96df28b74032"/>
          <a:stretch xmlns:a="http://schemas.openxmlformats.org/drawingml/2006/main"/>
        </p:blipFill>
        <p:spPr>
          <a:xfrm xmlns:a="http://schemas.openxmlformats.org/drawingml/2006/main">
            <a:off x="8858250" y="211931"/>
            <a:ext cx="2724150" cy="68103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D380A-2D47-46F9-9E66-AE878EDA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3864"/>
                </a:solidFill>
              </a:defRPr>
            </a:pPr>
            <a:r>
              <a:rPr sz="3000" b="1">
                <a:solidFill>
                  <a:srgbClr val="203864"/>
                </a:solidFill>
              </a:rPr>
              <a:t>Carta Gantt actualizada · 1/2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D833E-081F-4140-B681-4798679C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4"/>
                </a:solidFill>
              </a:defRPr>
            </a:pPr>
            <a:r>
              <a:rPr sz="1200" b="0">
                <a:solidFill>
                  <a:srgbClr val="526174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4787E9-96F8-46B2-99AB-28E2B578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60198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Actividad / historia de usuario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529AF-65FC-4C19-A37D-FD49D3BA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38325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CDBF8-F20E-4790-946D-4F65F3B6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38325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E0026-FDFA-403F-9E45-EB3ECC24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38325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1C15C1-5B27-480C-9CAE-63367CB4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38325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FD8A59-BEDF-4689-8DBD-3390DFA1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38325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5E9347-5EDB-456C-A3F4-9A080F34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38325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E7D9F9-AFAB-4763-8017-11D8D330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38325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9AD2ED-88F5-400A-AAC0-C3B3A0F8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838325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98AE64-0B36-43A3-8818-D3335E63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838325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DB546-F22E-499C-A063-9006BE8C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838325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FCCE89-7F6A-4C0C-889F-02331339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3239"/>
            <a:ext cx="60198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252B"/>
                </a:solidFill>
              </a:defRPr>
            </a:pPr>
            <a:r>
              <a:rPr sz="1275" b="0">
                <a:solidFill>
                  <a:srgbClr val="20252B"/>
                </a:solidFill>
              </a:rPr>
              <a:t>Kick off y organización del equipo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8A452D-011E-45A7-B6B8-4FF14412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03239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F7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3864"/>
                </a:solidFill>
              </a:defRPr>
            </a:pPr>
            <a:r>
              <a:rPr sz="1275" b="0">
                <a:solidFill>
                  <a:srgbClr val="203864"/>
                </a:solidFill>
              </a:rPr>
              <a:t>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95A7F4-044B-4136-860A-23970788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03239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651B85-A25A-4073-BC80-DCC06820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03239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EE86C4-903B-46C6-80A7-39D8F925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03239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980CF0-82F4-4CB5-9C2B-96CF115B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03239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3D98DB-5D40-47ED-B8A3-425CFDBB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03239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82DA1F-F0DF-4719-8B8F-995527AF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03239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4E1D15-243F-453E-8A6E-422B012E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03239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762A8D-94A9-405E-A767-3249A8B3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103239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5D6020-0089-4346-A41F-FC720EE1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103239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001C1D-7798-4574-A461-B06ADC08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8153"/>
            <a:ext cx="60198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252B"/>
                </a:solidFill>
              </a:defRPr>
            </a:pPr>
            <a:r>
              <a:rPr sz="1275" b="0">
                <a:solidFill>
                  <a:srgbClr val="20252B"/>
                </a:solidFill>
              </a:rPr>
              <a:t>Definición de requerimientos y alcance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956D03-8E56-4291-8DC0-F48DB6F8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68153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F7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3864"/>
                </a:solidFill>
              </a:defRPr>
            </a:pPr>
            <a:r>
              <a:rPr sz="1275" b="0">
                <a:solidFill>
                  <a:srgbClr val="203864"/>
                </a:solidFill>
              </a:rPr>
              <a:t>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2F2076-FEC6-485B-AA89-7BA813CE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68153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F7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3864"/>
                </a:solidFill>
              </a:defRPr>
            </a:pPr>
            <a:r>
              <a:rPr sz="1275" b="0">
                <a:solidFill>
                  <a:srgbClr val="203864"/>
                </a:solidFill>
              </a:rPr>
              <a:t>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DEC7E7-98D0-4F1F-8D0E-86AB392F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68153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7A0091-3E3B-4EE7-AEF6-A83237E2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68153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2CDD40-3B41-4713-9646-8314E3FA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68153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707DA1-C186-4298-B87F-658A59F9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68153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44C915-6F13-4A99-9668-87FD918C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68153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9D9749-26FF-43DD-837A-20E4F6D7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68153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DECBAC-4F29-492C-B9F0-0C84199E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368153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C2CE02-F7FD-4C01-B52D-89BBB729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368153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64BA6A-E52D-4DF8-97E4-EC6201AE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3067"/>
            <a:ext cx="60198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252B"/>
                </a:solidFill>
              </a:defRPr>
            </a:pPr>
            <a:r>
              <a:rPr sz="1275" b="0">
                <a:solidFill>
                  <a:srgbClr val="20252B"/>
                </a:solidFill>
              </a:rPr>
              <a:t>Diseño de arquitectura y modelo de datos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F49275-2450-43E6-B656-A828917F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33067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D76AC5-D636-4EA4-999A-EA1AF410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33067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F7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3864"/>
                </a:solidFill>
              </a:defRPr>
            </a:pPr>
            <a:r>
              <a:rPr sz="1275" b="0">
                <a:solidFill>
                  <a:srgbClr val="203864"/>
                </a:solidFill>
              </a:rPr>
              <a:t>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9B2485-22EE-44F7-962F-F241196A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33067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F7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3864"/>
                </a:solidFill>
              </a:defRPr>
            </a:pPr>
            <a:r>
              <a:rPr sz="1275" b="0">
                <a:solidFill>
                  <a:srgbClr val="203864"/>
                </a:solidFill>
              </a:rPr>
              <a:t>●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E7B8BB-9EFB-4BFE-9210-794E26E5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33067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852F75-70EA-434B-9724-F6FA0447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33067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DE03B4-5D5D-42F7-A083-AE066A3C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33067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A2B2C6-9D72-4F90-9998-6EC90A42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33067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E160FC3-9600-42B9-8733-73010EAE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33067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73DE9A-04EC-485D-9F13-EB949757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633067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5A7A5F3-9E4B-4D45-AB8D-2F8BBE3E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633067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CF58693-5D7E-4D8C-B14E-A845F9E9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7981"/>
            <a:ext cx="60198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252B"/>
                </a:solidFill>
              </a:defRPr>
            </a:pPr>
            <a:r>
              <a:rPr sz="1275" b="0">
                <a:solidFill>
                  <a:srgbClr val="20252B"/>
                </a:solidFill>
              </a:rPr>
              <a:t>Elaboración y entrega Informe Fase 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B1EA0B7-6E41-4720-A036-9769391A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97981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26BD47A-A06E-4243-9432-88CC123D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97981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8088F80-53D6-41D7-872E-F02E6AF1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97981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F7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3864"/>
                </a:solidFill>
              </a:defRPr>
            </a:pPr>
            <a:r>
              <a:rPr sz="1275" b="0">
                <a:solidFill>
                  <a:srgbClr val="203864"/>
                </a:solidFill>
              </a:rPr>
              <a:t>●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2375BB2-3750-4B25-8456-E6635547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97981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F7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3864"/>
                </a:solidFill>
              </a:defRPr>
            </a:pPr>
            <a:r>
              <a:rPr sz="1275" b="0">
                <a:solidFill>
                  <a:srgbClr val="203864"/>
                </a:solidFill>
              </a:rPr>
              <a:t>●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BE318B0-CAB0-44FD-9F56-97FD8712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97981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877B241-3CCB-422B-B8FA-384EC86D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97981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F98FAE8-DED2-411B-90FC-DE37BE96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97981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0B90442-C1AB-468C-AE9C-D70895D4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97981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EDC0954-B812-4725-AFEE-12BBB1B0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897981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4D823A6-A7AE-48BA-8C04-291C5CD9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2897981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3972547-64BA-4941-9EB4-117EE012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895"/>
            <a:ext cx="60198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252B"/>
                </a:solidFill>
              </a:defRPr>
            </a:pPr>
            <a:r>
              <a:rPr sz="1275" b="0">
                <a:solidFill>
                  <a:srgbClr val="20252B"/>
                </a:solidFill>
              </a:rPr>
              <a:t>infraestructura base (API, BD, Docker)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A87F854-A8B8-4934-ACF2-0A5228D7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62895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E7E269D-1912-44D8-B4B4-EC5CF7D5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62895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DE913EF-AE0C-4445-81EC-B6F477D3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62895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1B9B542-06DB-44D9-B5C7-AD25C76D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62895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D7718BF-C5B0-4590-96F0-75861AC4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62895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F7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3864"/>
                </a:solidFill>
              </a:defRPr>
            </a:pPr>
            <a:r>
              <a:rPr sz="1275" b="0">
                <a:solidFill>
                  <a:srgbClr val="203864"/>
                </a:solidFill>
              </a:rPr>
              <a:t>●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9CB219F-941D-46EB-BDDF-B91D57C7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62895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21D75AB-05B7-4CB8-A5C9-72947B5B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162895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EF64249-BC20-4AD8-AE23-06ADB56F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62895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E37DD4C-DBE9-416C-8335-90156C49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162895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992D520-0467-4E1C-B43A-BCC88103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162895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47E20EB-8864-4DA0-A4CF-836B640F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7809"/>
            <a:ext cx="60198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252B"/>
                </a:solidFill>
              </a:defRPr>
            </a:pPr>
            <a:r>
              <a:rPr sz="1275" b="0">
                <a:solidFill>
                  <a:srgbClr val="20252B"/>
                </a:solidFill>
              </a:rPr>
              <a:t>Registro y login de usuarios · S1-HU01 / S1-HU02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2F1DA05-1412-49EA-A014-E4763C56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27809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E015FF8-0189-409E-85BD-34553BE6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27809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3524039-5C47-4B5B-BA39-C52AA509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7809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1D5E023-F360-499F-8FE3-A4280BDF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27809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918E672-C936-48D2-8597-E0545CE3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27809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F7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3864"/>
                </a:solidFill>
              </a:defRPr>
            </a:pPr>
            <a:r>
              <a:rPr sz="1275" b="0">
                <a:solidFill>
                  <a:srgbClr val="203864"/>
                </a:solidFill>
              </a:rPr>
              <a:t>●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23E513D-10AE-42CA-A1C7-BAACA610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27809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F7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3864"/>
                </a:solidFill>
              </a:defRPr>
            </a:pPr>
            <a:r>
              <a:rPr sz="1275" b="0">
                <a:solidFill>
                  <a:srgbClr val="203864"/>
                </a:solidFill>
              </a:rPr>
              <a:t>●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E2B0DDF-8F53-4F6A-9066-8FAAB0E7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27809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D23A2D9-C720-46B4-81F7-A23361D2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7809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DBC9087-B5C6-4126-BB2F-597B96DD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427809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34BEC7F-79EB-4296-AB28-D879465D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427809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9A294C4-662F-4B0E-877E-8F24D14C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2723"/>
            <a:ext cx="60198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252B"/>
                </a:solidFill>
              </a:defRPr>
            </a:pPr>
            <a:r>
              <a:rPr sz="1275" b="0">
                <a:solidFill>
                  <a:srgbClr val="20252B"/>
                </a:solidFill>
              </a:rPr>
              <a:t>Registro de mascota · S1-HU03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AD2DC9E-4527-4863-B771-80018BB9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92723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686981B-7071-4A36-99B7-995280F8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92723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E6B7A4C-1F88-46EA-B86D-B986EAE4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92723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6D53841-8FEF-4453-9AD4-7EC77B139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92723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F08AB19-BFA5-43A8-9CD0-B51972AE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92723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BEDF705-04E4-4967-9A4A-6377BF39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92723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F7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3864"/>
                </a:solidFill>
              </a:defRPr>
            </a:pPr>
            <a:r>
              <a:rPr sz="1275" b="0">
                <a:solidFill>
                  <a:srgbClr val="203864"/>
                </a:solidFill>
              </a:rPr>
              <a:t>●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E9F5BFA-8B08-4A19-9F45-DD7897D2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92723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83FBC25-04DA-478D-8A12-66031826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92723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951C35E-70F2-4DFE-B677-9705293F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692723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EE672A2-4066-4971-95F3-50A9A8D4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692723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D13D420-6E58-400F-802F-04C3C389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7638"/>
            <a:ext cx="60198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252B"/>
                </a:solidFill>
              </a:defRPr>
            </a:pPr>
            <a:r>
              <a:rPr sz="1275" b="0">
                <a:solidFill>
                  <a:srgbClr val="20252B"/>
                </a:solidFill>
              </a:rPr>
              <a:t>Registro de vacunas · S2-HU04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8659D69-409B-4B4F-A8C1-1ECB19FB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57638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9D68578-570D-4E8C-8985-F7C476A6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57638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1FF4CCB-F3ED-4820-8EE2-9A380E43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57638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33D7C9D-31A7-4B5E-A54A-43FFA2E0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57638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1B45A69-CB91-4CD7-AA59-E2C8CDB8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57638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9F1D8DD-CC1F-4F60-BC5F-035B06CF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57638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AA2AF61-8606-4C3A-B4F5-C285EF11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957638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F7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3864"/>
                </a:solidFill>
              </a:defRPr>
            </a:pPr>
            <a:r>
              <a:rPr sz="1275" b="0">
                <a:solidFill>
                  <a:srgbClr val="203864"/>
                </a:solidFill>
              </a:rPr>
              <a:t>●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5AEF3D9-6066-4B35-8382-3E7D3D75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57638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B498514-D2EC-4F71-98B8-D4505F90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957638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93F71E2-1DBF-401E-8FD6-5A39A3F0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957638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B1D6581-8F8D-4A59-95E3-C656DEC9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2552"/>
            <a:ext cx="60198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252B"/>
                </a:solidFill>
              </a:defRPr>
            </a:pPr>
            <a:r>
              <a:rPr sz="1275" b="0">
                <a:solidFill>
                  <a:srgbClr val="20252B"/>
                </a:solidFill>
              </a:rPr>
              <a:t>Registro de enfermedades y tratamientos · S2-HU05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32C4E05-2EE2-4132-9ED5-6B478C29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22552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88ABF28-D788-4D10-B3ED-502F782F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22552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0136118-FDD8-49D9-8150-57D457DF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22552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D391E08-3709-4BA2-BC6F-8A4EE387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22552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53019A6-CA47-409D-9F12-A2CF6B24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22552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5713E69-19F4-43C8-AEDB-DE884E96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22552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D423180-D4A7-4778-9A1F-678DB22F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22552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F7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3864"/>
                </a:solidFill>
              </a:defRPr>
            </a:pPr>
            <a:r>
              <a:rPr sz="1275" b="0">
                <a:solidFill>
                  <a:srgbClr val="203864"/>
                </a:solidFill>
              </a:rPr>
              <a:t>●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EA4777D-3387-425C-8666-D16F0DE8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22552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95F1757-F231-4DB5-9923-C0A02AB3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222552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93CC40D-EE05-4DC5-99CA-C3054EB9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222552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C6A523F-8D4C-45B7-BFBB-6AA25181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7466"/>
            <a:ext cx="60198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252B"/>
                </a:solidFill>
              </a:defRPr>
            </a:pPr>
            <a:r>
              <a:rPr sz="1275" b="0">
                <a:solidFill>
                  <a:srgbClr val="20252B"/>
                </a:solidFill>
              </a:rPr>
              <a:t>Adjuntar documentos veterinarios · S2-HU06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77C5BC3-16D1-4E5C-91F7-EE13C816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87466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48D7C7C-BF00-40DE-BFB9-B8BFB3E5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87466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AAF6A1F-050A-4999-A01E-9F48951F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87466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437E256-7B08-469A-A390-F9E2FB67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87466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FE161FE-2F0A-4EC2-852B-C0629B37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87466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F16480B-A7D4-436F-8000-E9C967B4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87466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0E6AE29-E62C-49FE-AC62-DB740746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487466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2596958-0445-4E0B-90D5-76E9E268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87466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F7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3864"/>
                </a:solidFill>
              </a:defRPr>
            </a:pPr>
            <a:r>
              <a:rPr sz="1275" b="0">
                <a:solidFill>
                  <a:srgbClr val="203864"/>
                </a:solidFill>
              </a:rPr>
              <a:t>●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23FA6F9-082F-4A99-9137-6C3F7D09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487466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C29CA0C-2718-495F-B111-56FF43FA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487466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D59E3BE-396D-4BC8-8F15-B0208B9F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380"/>
            <a:ext cx="60198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252B"/>
                </a:solidFill>
              </a:defRPr>
            </a:pPr>
            <a:r>
              <a:rPr sz="1275" b="0">
                <a:solidFill>
                  <a:srgbClr val="20252B"/>
                </a:solidFill>
              </a:rPr>
              <a:t>Recordatorios push de vacunas · S2-HU07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5BC575F-8C28-4B6F-9E50-24A51DF8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52380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110232C-675B-49CB-BB63-544CE002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752380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D673622-9BBD-4470-A9B0-8D8CB57B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52380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A4833B4-D653-4BD0-B09D-BC8C90EB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52380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D604E46-58CD-48AD-AC93-9C79C1A9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52380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DFA52935-54EC-4F5C-9631-30736AEC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52380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8B054EF-7797-474A-A88C-6136BD69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752380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2711F8CF-4226-4358-A6B2-5538C657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752380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F7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3864"/>
                </a:solidFill>
              </a:defRPr>
            </a:pPr>
            <a:r>
              <a:rPr sz="1275" b="0">
                <a:solidFill>
                  <a:srgbClr val="203864"/>
                </a:solidFill>
              </a:rPr>
              <a:t>●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33710E0-F155-4988-B2DA-85A558BD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752380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78F8B8C-3E02-4F07-8856-ABD7C206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752380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B2F220F-A840-4980-B77B-BF64A1F2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7294"/>
            <a:ext cx="60198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252B"/>
                </a:solidFill>
              </a:defRPr>
            </a:pPr>
            <a:r>
              <a:rPr sz="1275" b="0">
                <a:solidFill>
                  <a:srgbClr val="20252B"/>
                </a:solidFill>
              </a:rPr>
              <a:t>Registro como donante voluntario · S3-HU08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692823C4-7A73-40EE-A1E3-2783A735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017294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5586C47-DC32-4375-ADDE-4225F2FF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17294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18F7A973-675A-44A6-A681-124FCEC2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7294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332F87DE-1361-4C33-9298-FE8BAC3A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17294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B56F2C0A-5A7B-4913-9408-B2E3A5AD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017294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93EC21AF-29FE-4D29-A4B5-F3D7761A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17294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8FD2BD2F-EC7C-4EB4-9C27-33845402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017294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9677594-5357-4FA8-993F-E4EFFEF7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17294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BC3F998B-43D0-47CF-898F-4F9BA9A3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5017294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F7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3864"/>
                </a:solidFill>
              </a:defRPr>
            </a:pPr>
            <a:r>
              <a:rPr sz="1275" b="0">
                <a:solidFill>
                  <a:srgbClr val="203864"/>
                </a:solidFill>
              </a:rPr>
              <a:t>●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4407CF9-6C5A-4D38-915B-02BECDF6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017294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28F05E1A-06C5-44DE-9115-42D4F700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2208"/>
            <a:ext cx="60198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252B"/>
                </a:solidFill>
              </a:defRPr>
            </a:pPr>
            <a:r>
              <a:rPr sz="1275" b="0">
                <a:solidFill>
                  <a:srgbClr val="20252B"/>
                </a:solidFill>
              </a:rPr>
              <a:t>Publicación de solicitudes de sangre · S3-HU09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25281A9A-9567-4B42-B19A-0D1905CA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82208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AD30603C-139A-418B-8F3D-410ACA8C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282208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B47F3647-82FD-4C0B-A4CB-3154DBCF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82208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62290C23-D067-4912-861D-00CF1181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82208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BE5822EC-3142-4D8E-AC42-AF94C39D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282208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DF155F5B-8879-43B9-8E47-DF56F31F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282208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F3F83EA1-4AE5-431E-B8EF-F51A61EF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282208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30AA7AD2-61BA-435C-A2CB-9E2DE9D8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82208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A4D6C9A8-B8B4-4570-AB10-E3EF592F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5282208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F7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3864"/>
                </a:solidFill>
              </a:defRPr>
            </a:pPr>
            <a:r>
              <a:rPr sz="1275" b="0">
                <a:solidFill>
                  <a:srgbClr val="203864"/>
                </a:solidFill>
              </a:rPr>
              <a:t>●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2E31D174-C06E-4ED7-8B06-63CD4FEE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282208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E6D09472-A492-46E3-8913-63EC5E1F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7122"/>
            <a:ext cx="60198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252B"/>
                </a:solidFill>
              </a:defRPr>
            </a:pPr>
            <a:r>
              <a:rPr sz="1275" b="0">
                <a:solidFill>
                  <a:srgbClr val="20252B"/>
                </a:solidFill>
              </a:rPr>
              <a:t>Búsqueda de donantes compatibles · S3-HU10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6671D5BA-7B7E-4F17-9DA6-608FF64E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547122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6DA11087-344B-44E4-A4DA-C2B0816C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547122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FFC8A0D0-D268-47D2-BC6A-21CA1020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547122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CE30B7D-B42D-496B-BCD6-04BDE238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547122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7A6D830C-1E8F-46B9-AE73-7875CA0C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547122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2D6E6DE2-9F98-4629-AD0C-FEC1AFB0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547122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8694860F-18D9-4A8D-8C12-A13543D9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547122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936D174A-7795-40D9-8D17-D41BFBDF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547122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43C8FB3F-BC10-4552-B0AC-1BC7035D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5547122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09A96C73-1228-45E6-BCAF-58D4A602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547122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F7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3864"/>
                </a:solidFill>
              </a:defRPr>
            </a:pPr>
            <a:r>
              <a:rPr sz="1275" b="0">
                <a:solidFill>
                  <a:srgbClr val="203864"/>
                </a:solidFill>
              </a:rPr>
              <a:t>●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001414CD-7E08-4791-B056-2096EE5C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2036"/>
            <a:ext cx="60198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252B"/>
                </a:solidFill>
              </a:defRPr>
            </a:pPr>
            <a:r>
              <a:rPr sz="1275" b="0">
                <a:solidFill>
                  <a:srgbClr val="20252B"/>
                </a:solidFill>
              </a:rPr>
              <a:t>Entrega Informe de Avance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4E27FA3C-8706-4080-BE7B-5AC9158F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812036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B986F9F1-FCE4-4F09-A77C-6C7588D5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812036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6A4ED7A4-5C9F-4D8D-ADE1-12EF9E28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812036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B17B3FCC-E2E4-4490-A206-18EC1819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812036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38955DCD-18EF-416C-9AA1-3F146316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812036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C8657248-4038-4799-8318-E95679B2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812036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62B344F6-DAEE-4640-AD2F-C6A315AA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812036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8E874311-6904-4881-A711-B80C5627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812036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A0D42548-C117-44DF-9ACC-4D5D1E6E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5812036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1E94EAFF-A47F-411D-B927-9451C19B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812036"/>
            <a:ext cx="495300" cy="2649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F7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3864"/>
                </a:solidFill>
              </a:defRPr>
            </a:pPr>
            <a:r>
              <a:rPr sz="1275" b="0">
                <a:solidFill>
                  <a:srgbClr val="203864"/>
                </a:solidFill>
              </a:rPr>
              <a:t>●</a:t>
            </a:r>
          </a:p>
        </p:txBody>
      </p:sp>
    </p:spTree>
    <p:extLst>
      <p:ext uri="{BB962C8B-B14F-4D97-AF65-F5344CB8AC3E}">
        <p14:creationId xmlns:p14="http://schemas.microsoft.com/office/powerpoint/2010/main" val="6220046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9F25454-BD25-49A7-BC67-217D447C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4"/>
                </a:solidFill>
              </a:defRPr>
            </a:pPr>
            <a:r>
              <a:rPr sz="1200" b="0">
                <a:solidFill>
                  <a:srgbClr val="526174"/>
                </a:solidFill>
              </a:rPr>
              <a:t>PROYECTO PETHUB · FASE 1</a:t>
            </a:r>
          </a:p>
        </p:txBody>
      </p:sp>
      <p:pic>
        <p:nvPicPr>
          <p:cNvPr id="1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0a20e0a3e4676"/>
          <a:stretch xmlns:a="http://schemas.openxmlformats.org/drawingml/2006/main"/>
        </p:blipFill>
        <p:spPr>
          <a:xfrm xmlns:a="http://schemas.openxmlformats.org/drawingml/2006/main">
            <a:off x="8858250" y="211931"/>
            <a:ext cx="2724150" cy="68103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9F987-49F8-42BE-9DF0-AF9D5631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3864"/>
                </a:solidFill>
              </a:defRPr>
            </a:pPr>
            <a:r>
              <a:rPr sz="3000" b="1">
                <a:solidFill>
                  <a:srgbClr val="203864"/>
                </a:solidFill>
              </a:rPr>
              <a:t>Carta Gantt actualizada · 2/2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76242-218B-44C2-B0F2-A2AB3FB3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4"/>
                </a:solidFill>
              </a:defRPr>
            </a:pPr>
            <a:r>
              <a:rPr sz="1200" b="0">
                <a:solidFill>
                  <a:srgbClr val="526174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0C01F4-B79D-4DD1-944D-EFF03626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601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Actividad / historia de usuario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E8BA5-0704-4811-8982-F7923C82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383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72D65-2148-4C4C-A9E6-DA21CD0C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8383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50D136-347A-426E-909E-F0B48566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8383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49699E-FC00-4588-A6E9-A7F29687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8383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8264DE-42C7-4F2C-B061-079983E1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383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DCFC88-BB81-4CD3-95D8-D0C42732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18383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98F139-9B15-451E-A535-F18A7C8E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8383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S17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F373F7-8C10-458D-8BA4-C92BDC4C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18383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S18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B84DAB-CA50-449E-AB8A-EADC5D87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601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252B"/>
                </a:solidFill>
              </a:defRPr>
            </a:pPr>
            <a:r>
              <a:rPr sz="1275" b="0">
                <a:solidFill>
                  <a:srgbClr val="20252B"/>
                </a:solidFill>
              </a:rPr>
              <a:t>Notificaciones push de compatibilidad · S4-HU11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C3DA74-DDAD-424D-A5B0-0A4EA6FA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050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F7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3864"/>
                </a:solidFill>
              </a:defRPr>
            </a:pPr>
            <a:r>
              <a:rPr sz="1275" b="0">
                <a:solidFill>
                  <a:srgbClr val="203864"/>
                </a:solidFill>
              </a:rPr>
              <a:t>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96EE5E-B5AD-43A3-A5C3-61DEDCC9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050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9EBC3A-7DB7-4BB9-8433-EAD3B4EC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050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133E67-2689-4DAC-A272-C4153F36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1050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F9ACAF-9CDE-412E-A374-039EC859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050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0820B9-09E5-4FD7-9661-C92D1045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1050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F12724-3C3E-4AF9-9520-3D9B3869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050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12798C-D640-4638-A7BB-64CAB39A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21050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920575-7528-4DAF-AE9E-07CD8342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601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252B"/>
                </a:solidFill>
              </a:defRPr>
            </a:pPr>
            <a:r>
              <a:rPr sz="1275" b="0">
                <a:solidFill>
                  <a:srgbClr val="20252B"/>
                </a:solidFill>
              </a:rPr>
              <a:t>Contacto directo entre usuarios (chat inicial) · S4-HU12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C78C5E-9348-4DB9-AC85-C9A59325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717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F7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3864"/>
                </a:solidFill>
              </a:defRPr>
            </a:pPr>
            <a:r>
              <a:rPr sz="1275" b="0">
                <a:solidFill>
                  <a:srgbClr val="203864"/>
                </a:solidFill>
              </a:rPr>
              <a:t>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FAB285-67EE-498C-A185-58CFD3D2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3717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00D2D0-23B5-444B-A13A-667F7EF1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717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511A50-DDA0-4B1B-9232-77996B94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3717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79AF40-29AB-4224-8B65-B1C6CF64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717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89BF79-795B-4514-A78E-573FAAF2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3717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D91CC0-1959-44FF-AFA6-54B0DF02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3717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4A5D4D-0350-4198-9CC4-2ABEEB40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23717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D6C29A-BC1F-485E-B697-5D126E93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601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252B"/>
                </a:solidFill>
              </a:defRPr>
            </a:pPr>
            <a:r>
              <a:rPr sz="1275" b="0">
                <a:solidFill>
                  <a:srgbClr val="20252B"/>
                </a:solidFill>
              </a:rPr>
              <a:t>Aviso de validación veterinaria presencial · S4-HU13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945174-CAF4-469D-853A-180BB7C8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384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7D6E0E-2760-4FAE-BC1D-9EA8D7AD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6384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F7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3864"/>
                </a:solidFill>
              </a:defRPr>
            </a:pPr>
            <a:r>
              <a:rPr sz="1275" b="0">
                <a:solidFill>
                  <a:srgbClr val="203864"/>
                </a:solidFill>
              </a:rPr>
              <a:t>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643CAC-79B5-464C-909A-ADC82B16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384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1CB5D2-6EB9-45FE-A52B-14D82AD4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6384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37FD24-5A21-443B-9FA5-37ABE623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384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D22C9F-DC37-459B-A229-7D8ED152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6384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2F25B7-47F5-441F-B99A-BC1D824D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6384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BB4C5A-7001-4E38-BBD5-BEDB44AC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26384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4F0865-357A-42A6-86C6-A1A2C5B6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601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252B"/>
                </a:solidFill>
              </a:defRPr>
            </a:pPr>
            <a:r>
              <a:rPr sz="1275" b="0">
                <a:solidFill>
                  <a:srgbClr val="20252B"/>
                </a:solidFill>
              </a:rPr>
              <a:t>Chat en tiempo real · S5-HU14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81AF3A-984E-4BC6-8650-D093B0FC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051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68DF32-5C7D-40AC-97E9-3570A681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9051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4F60584-9193-475D-9C19-E2CF9FBB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051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F7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3864"/>
                </a:solidFill>
              </a:defRPr>
            </a:pPr>
            <a:r>
              <a:rPr sz="1275" b="0">
                <a:solidFill>
                  <a:srgbClr val="203864"/>
                </a:solidFill>
              </a:rPr>
              <a:t>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061852-94E7-4B37-A090-A148E36B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9051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00EF683-E64D-44A5-8183-C3F30B1E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051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3EB516B-754F-494D-821A-7CF72D1B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9051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EEEB1C-7DDD-4CD8-B14D-87972A37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9051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7B8E655-15CC-470C-A4AE-D6F0FB95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29051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C5DB155-F8CF-49D7-A790-F32B2599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601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252B"/>
                </a:solidFill>
              </a:defRPr>
            </a:pPr>
            <a:r>
              <a:rPr sz="1275" b="0">
                <a:solidFill>
                  <a:srgbClr val="20252B"/>
                </a:solidFill>
              </a:rPr>
              <a:t>Foro comunitario: publicaciones · S5-HU15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4948C62-5B75-4B0D-9DBD-9DEAEDB0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718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CEB50E6-F18A-4EE8-8F82-57E628D8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1718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415EC5A-C1BB-455A-A045-7155424A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718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F7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3864"/>
                </a:solidFill>
              </a:defRPr>
            </a:pPr>
            <a:r>
              <a:rPr sz="1275" b="0">
                <a:solidFill>
                  <a:srgbClr val="203864"/>
                </a:solidFill>
              </a:rPr>
              <a:t>●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853FAC6-2634-41EB-98A7-B1369920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1718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0229480-0377-44D4-A650-BFAC6AD2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718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4DC21A9-3F20-452F-AD42-BB32FDF7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1718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F995F58-841E-4A4F-903B-6A45C7F0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1718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CE6A544-FC0B-4B06-AE28-FCF667E9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1718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D264F9B-C30C-4E56-AC93-2A62B619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601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252B"/>
                </a:solidFill>
              </a:defRPr>
            </a:pPr>
            <a:r>
              <a:rPr sz="1275" b="0">
                <a:solidFill>
                  <a:srgbClr val="20252B"/>
                </a:solidFill>
              </a:rPr>
              <a:t>Comentarios en el foro · S5-HU16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3BA7B34-5C0F-4C3E-9DC7-05AC1832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385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304177F-B8C8-417F-8F35-644C7DA7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4385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3D20CE8-651B-4735-9FB5-6653CE57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385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513A96B-CF27-450A-A9D8-666EDC8D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4385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F7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3864"/>
                </a:solidFill>
              </a:defRPr>
            </a:pPr>
            <a:r>
              <a:rPr sz="1275" b="0">
                <a:solidFill>
                  <a:srgbClr val="203864"/>
                </a:solidFill>
              </a:rPr>
              <a:t>●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3F137B0-D8B7-45DB-9E28-508F0BC8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385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5C88AC5-1788-4776-837B-CA917D97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4385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D1A5520-1E27-49AA-95CD-BA3FB9F9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4385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BCCFD11-806B-48E4-9608-B57A4D91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4385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4A1644A-B300-40A2-9CEF-67685DDE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601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252B"/>
                </a:solidFill>
              </a:defRPr>
            </a:pPr>
            <a:r>
              <a:rPr sz="1275" b="0">
                <a:solidFill>
                  <a:srgbClr val="20252B"/>
                </a:solidFill>
              </a:rPr>
              <a:t>Buscar publicaciones por palabra clave · S5-HU17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6B1D923-E886-45BB-9A55-535D9DD0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052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BE4918D-6EFF-4068-B35D-66C4E0C2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7052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5164815-D3F5-4113-BD1E-16D0BF1B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052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8B20732-1A5A-4261-8486-19E8D523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7052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F7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3864"/>
                </a:solidFill>
              </a:defRPr>
            </a:pPr>
            <a:r>
              <a:rPr sz="1275" b="0">
                <a:solidFill>
                  <a:srgbClr val="203864"/>
                </a:solidFill>
              </a:rPr>
              <a:t>●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125FA38-B788-43A2-A402-8A1A7FEB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052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0E605FE-908D-4385-A3A7-DAEF5C1B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7052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C676FFD-F4AA-4943-8F6F-44E47A6A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7052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C78E378-8754-4F65-BE37-444E5C68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7052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338A019-539A-4C6F-B0B9-72542B1D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601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252B"/>
                </a:solidFill>
              </a:defRPr>
            </a:pPr>
            <a:r>
              <a:rPr sz="1275" b="0">
                <a:solidFill>
                  <a:srgbClr val="20252B"/>
                </a:solidFill>
              </a:rPr>
              <a:t>pruebas integrales de los módulos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7112A9D-D8C6-4804-A537-9CB1F8C4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719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A5385A1-47B1-40C9-8F05-64CC23F1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9719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B53C1D2-A167-44F4-9EE5-1C4FE1E1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719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93EF5C7-5AB2-439D-9363-E56E6DEF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9719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47C0FFD-79B4-48F2-873F-FA9337CB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719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F7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3864"/>
                </a:solidFill>
              </a:defRPr>
            </a:pPr>
            <a:r>
              <a:rPr sz="1275" b="0">
                <a:solidFill>
                  <a:srgbClr val="203864"/>
                </a:solidFill>
              </a:rPr>
              <a:t>●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25081FD-4D52-442D-9064-79AAA170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9719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28A64B8-12C4-4E83-A361-DA5123AD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9719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6FF0047-11FB-4FA7-949C-F9A5B022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9719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73D25CF-6F76-41D5-BFE6-C6CED47A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601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252B"/>
                </a:solidFill>
              </a:defRPr>
            </a:pPr>
            <a:r>
              <a:rPr sz="1275" b="0">
                <a:solidFill>
                  <a:srgbClr val="20252B"/>
                </a:solidFill>
              </a:rPr>
              <a:t>Entrega Informe Final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67B0FE4-1622-42BC-BE27-27E9E5CC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386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B0BDBBD-6A18-4833-BF36-9F037D46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2386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78D8962-7FF1-4251-8A86-DF57D112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386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DCEA85A-25D3-4019-8759-BF37C7BA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2386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9B8AE3A-323D-4AA3-94E3-D60A9DC7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386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F7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3864"/>
                </a:solidFill>
              </a:defRPr>
            </a:pPr>
            <a:r>
              <a:rPr sz="1275" b="0">
                <a:solidFill>
                  <a:srgbClr val="203864"/>
                </a:solidFill>
              </a:rPr>
              <a:t>●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220146A-FB25-4298-8178-30E3BBA9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2386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E61E7F7-1C71-42CC-A66B-56EB9C3E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2386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1100668-9BD2-47C1-B982-D68B9136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42386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92A8DCF-97D7-4479-A5FE-BBABB023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601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252B"/>
                </a:solidFill>
              </a:defRPr>
            </a:pPr>
            <a:r>
              <a:rPr sz="1275" b="0">
                <a:solidFill>
                  <a:srgbClr val="20252B"/>
                </a:solidFill>
              </a:rPr>
              <a:t>Preparación de la presentación final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61B52A4-E0A7-4C84-8B72-AB5A6843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053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2F99EB4-D208-4AE4-A5B0-147B10A0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5053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D61D0F4-6C80-42E6-BE9C-549E5EED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053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8F47CEC-F204-49C3-98E9-28C39FEC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5053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33D2D97-F18D-4AE2-89CC-0793B2C7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5053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33C3B59-AE79-4928-8DFF-F38AC057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5053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F7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3864"/>
                </a:solidFill>
              </a:defRPr>
            </a:pPr>
            <a:r>
              <a:rPr sz="1275" b="0">
                <a:solidFill>
                  <a:srgbClr val="203864"/>
                </a:solidFill>
              </a:rPr>
              <a:t>●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D1DE59D-65C4-4FFE-8F06-8313C197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5053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E6060E5-9CE4-4D53-AA23-B8FB114F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45053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A8D3478-218F-4D31-B06B-3D7CBA56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601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252B"/>
                </a:solidFill>
              </a:defRPr>
            </a:pPr>
            <a:r>
              <a:rPr sz="1275" b="0">
                <a:solidFill>
                  <a:srgbClr val="20252B"/>
                </a:solidFill>
              </a:rPr>
              <a:t>Ensayo y ajustes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8B85411-EAF6-441B-BE82-03A3E445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720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C9BD690-4354-4DEE-95D1-20E8DC0B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7720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FFF35D3-1052-48CD-B43F-EB0A055A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720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8C692E2-4D9C-4D68-85CD-C9DABD4B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7720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077149F-8991-488F-BC3B-61A49ACC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720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978F8CF-3D5D-4F03-BBCE-A259C98C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7720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E3CA3EC-A3E8-4B10-BF33-F820B136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7720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F7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3864"/>
                </a:solidFill>
              </a:defRPr>
            </a:pPr>
            <a:r>
              <a:rPr sz="1275" b="0">
                <a:solidFill>
                  <a:srgbClr val="203864"/>
                </a:solidFill>
              </a:rPr>
              <a:t>●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4398F42-E22F-4FCE-B49A-5AB6C933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47720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4A21D95-FA0C-4954-9041-940C546F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601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0252B"/>
                </a:solidFill>
              </a:defRPr>
            </a:pPr>
            <a:r>
              <a:rPr sz="1275" b="0">
                <a:solidFill>
                  <a:srgbClr val="20252B"/>
                </a:solidFill>
              </a:rPr>
              <a:t>Presentación final a la comisión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C7F69E2-56F0-469A-8E72-42E5F566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0387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8E3E1C5-7D59-4E66-8DDD-1573B786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387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6AABB9A-8058-46F3-A6D6-8B097D35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0387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DFE512F-0926-4276-8824-142CD4F2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0387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CCCC92B-7EC5-48DD-A6A2-2649CCA6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387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7FA5DCE-59E1-4FC4-A3B7-92B0767A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50387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7F40EEE-5198-4AE1-BDB3-A0A72FCA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0387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12B337B-1B1A-4CC3-AB11-327148D2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5038725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F7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03864"/>
                </a:solidFill>
              </a:defRPr>
            </a:pPr>
            <a:r>
              <a:rPr sz="1275" b="0">
                <a:solidFill>
                  <a:srgbClr val="203864"/>
                </a:solidFill>
              </a:rPr>
              <a:t>●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00BF714-9461-40BC-BE17-6D2F2195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174"/>
                </a:solidFill>
              </a:defRPr>
            </a:pPr>
            <a:r>
              <a:rPr sz="1425" b="0">
                <a:solidFill>
                  <a:srgbClr val="526174"/>
                </a:solidFill>
              </a:rPr>
              <a:t>Sprint 4: S11–12 · Sprint 5: S13–14 · Cierre: S15 · Fase 3: S16–18</a:t>
            </a:r>
          </a:p>
        </p:txBody>
      </p:sp>
    </p:spTree>
    <p:extLst>
      <p:ext uri="{BB962C8B-B14F-4D97-AF65-F5344CB8AC3E}">
        <p14:creationId xmlns:p14="http://schemas.microsoft.com/office/powerpoint/2010/main" val="3643062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96A3AE-1312-4207-BB66-EFC3231A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4"/>
                </a:solidFill>
              </a:defRPr>
            </a:pPr>
            <a:r>
              <a:rPr sz="1200" b="0">
                <a:solidFill>
                  <a:srgbClr val="526174"/>
                </a:solidFill>
              </a:rPr>
              <a:t>PROYECTO PETHUB · FASE 1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bea0e82ff4e4a"/>
          <a:stretch xmlns:a="http://schemas.openxmlformats.org/drawingml/2006/main"/>
        </p:blipFill>
        <p:spPr>
          <a:xfrm xmlns:a="http://schemas.openxmlformats.org/drawingml/2006/main">
            <a:off x="8858250" y="211931"/>
            <a:ext cx="2724150" cy="68103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AA351-C4E7-4457-8A9A-861E6E8A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3864"/>
                </a:solidFill>
              </a:defRPr>
            </a:pPr>
            <a:r>
              <a:rPr sz="3000" b="1">
                <a:solidFill>
                  <a:srgbClr val="203864"/>
                </a:solidFill>
              </a:rPr>
              <a:t>Tecnologías y arquitectura propuesta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3FE4C-1520-4885-AD17-90AA94FB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4"/>
                </a:solidFill>
              </a:defRPr>
            </a:pPr>
            <a:r>
              <a:rPr sz="1200" b="0">
                <a:solidFill>
                  <a:srgbClr val="526174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93B20-E49B-413C-87FD-6BB197B5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238375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Componente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80472-4893-49DD-A7D3-74F43568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952625"/>
            <a:ext cx="4191000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Tecnología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05BA02-BF8F-45B2-A6DF-D3DFF801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952625"/>
            <a:ext cx="4543425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Uso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8D5F3F-E62D-4F80-B357-B1183501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5544"/>
            <a:ext cx="2238375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2F366B-FC7F-460C-84BD-B73DEF75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445544"/>
            <a:ext cx="4191000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Angular + Ionic + Capacitor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CEEEE-2D25-4CC0-8DCB-E8702F96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445544"/>
            <a:ext cx="4543425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Aplicación móvil multiplataforma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2ACFC4-3DE8-428F-85C0-30916012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8463"/>
            <a:ext cx="2238375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Backend /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49264-1536-4616-AEEE-52277046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938463"/>
            <a:ext cx="4191000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Node.js + Express + Prisma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9F6B6C-9635-4059-B5FB-7C7852E2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938463"/>
            <a:ext cx="4543425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Lógica de negocio y acceso a datos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ACEBDC-4C03-4E1D-866E-E9BB5F5C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1381"/>
            <a:ext cx="2238375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Base de datos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08227B-B5D8-457C-912A-EABD4A3C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431381"/>
            <a:ext cx="4191000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PostgreSQL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4F387D-B954-4B1C-A4BF-7FB5A13A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431381"/>
            <a:ext cx="4543425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Usuarios, mascotas y solicitudes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2A56B7-31C9-4DAA-890C-FF867373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2238375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Chat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8999A2-63F2-4C8A-B621-BE35178C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924300"/>
            <a:ext cx="4191000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Socket.io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ABFF26-2578-41CD-8615-6CD945C6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924300"/>
            <a:ext cx="4543425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Mensajería en tiempo real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BEEDE3-5CD3-4618-B23D-D3E0DAA9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7219"/>
            <a:ext cx="2238375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Notificaciones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D2AE9D-A259-4F76-9101-D3BBE5B1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417219"/>
            <a:ext cx="4191000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Firebase Cloud Messaging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77B0C1-EAE2-4C8A-A53E-52182677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417219"/>
            <a:ext cx="4543425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Avisos urgentes y recordatorios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4AD42C-7595-4C81-BCC5-A003BEB0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0138"/>
            <a:ext cx="2238375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Archivos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1392C6-F613-4C70-9996-5B4D6343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910138"/>
            <a:ext cx="4191000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S3 compatible / Cloudflare R2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346BF4-84FB-4529-B86C-385D2C0A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910138"/>
            <a:ext cx="4543425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Fotografías y documentos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090FE0-DB8B-435C-BE95-F50A700F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3056"/>
            <a:ext cx="2238375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Despliegue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C45E41-4557-411B-8F68-61A36D4D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403056"/>
            <a:ext cx="4191000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Docker y Docker Compose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B50C97-D1E2-4EF0-8654-0F09A906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5403056"/>
            <a:ext cx="4543425" cy="492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Contenerización del backend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5D9036-740E-40CD-92C1-702DF920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174"/>
                </a:solidFill>
              </a:defRPr>
            </a:pPr>
            <a:r>
              <a:rPr sz="1575" b="0">
                <a:solidFill>
                  <a:srgbClr val="526174"/>
                </a:solidFill>
              </a:rPr>
              <a:t>Stack propuesto: validar la integración mediante una prueba de concepto inicial.</a:t>
            </a:r>
          </a:p>
        </p:txBody>
      </p:sp>
    </p:spTree>
    <p:extLst>
      <p:ext uri="{BB962C8B-B14F-4D97-AF65-F5344CB8AC3E}">
        <p14:creationId xmlns:p14="http://schemas.microsoft.com/office/powerpoint/2010/main" val="12046287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FFFBE2-798C-4206-BB7F-04436B10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4"/>
                </a:solidFill>
              </a:defRPr>
            </a:pPr>
            <a:r>
              <a:rPr sz="1200" b="0">
                <a:solidFill>
                  <a:srgbClr val="526174"/>
                </a:solidFill>
              </a:rPr>
              <a:t>PROYECTO PETHUB · FASE 1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5ed46e55154f85"/>
          <a:stretch xmlns:a="http://schemas.openxmlformats.org/drawingml/2006/main"/>
        </p:blipFill>
        <p:spPr>
          <a:xfrm xmlns:a="http://schemas.openxmlformats.org/drawingml/2006/main">
            <a:off x="8858250" y="211931"/>
            <a:ext cx="2724150" cy="68103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6F022-D38E-4F5D-A362-09E88F0D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3864"/>
                </a:solidFill>
              </a:defRPr>
            </a:pPr>
            <a:r>
              <a:rPr sz="3000" b="1">
                <a:solidFill>
                  <a:srgbClr val="203864"/>
                </a:solidFill>
              </a:rPr>
              <a:t>Historias de usuario y validación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2B366-BF52-4655-A5FE-10326BEA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4"/>
                </a:solidFill>
              </a:defRPr>
            </a:pPr>
            <a:r>
              <a:rPr sz="1200" b="0">
                <a:solidFill>
                  <a:srgbClr val="526174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78304-8020-41AE-98ED-2801FC00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5B9BD5"/>
                </a:solidFill>
              </a:defRPr>
            </a:pPr>
            <a:r>
              <a:rPr sz="2850" b="1">
                <a:solidFill>
                  <a:srgbClr val="5B9BD5"/>
                </a:solidFill>
              </a:rPr>
              <a:t>17 historias · 51 escenarios de aceptación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47007-F906-4A4E-B944-B8AA13F5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1333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Sprint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50E5AA-DEDF-4063-A29C-AF8B44666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981325"/>
            <a:ext cx="2190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Historias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8C72E-FA31-4012-B5C3-9DEB726F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81325"/>
            <a:ext cx="74485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Cobertura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8EDD16-5A68-4B18-95FD-96227E57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1333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52B"/>
                </a:solidFill>
              </a:defRPr>
            </a:pPr>
            <a:r>
              <a:rPr sz="1800" b="0">
                <a:solidFill>
                  <a:srgbClr val="20252B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C06B6-363D-46D6-97B5-D8D39B92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467100"/>
            <a:ext cx="2190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52B"/>
                </a:solidFill>
              </a:defRPr>
            </a:pPr>
            <a:r>
              <a:rPr sz="1800" b="0">
                <a:solidFill>
                  <a:srgbClr val="20252B"/>
                </a:solidFill>
              </a:rPr>
              <a:t>HU01–HU03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4B7697-FEA8-409A-9E8C-4A786C7D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467100"/>
            <a:ext cx="74485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52B"/>
                </a:solidFill>
              </a:defRPr>
            </a:pPr>
            <a:r>
              <a:rPr sz="1800" b="0">
                <a:solidFill>
                  <a:srgbClr val="20252B"/>
                </a:solidFill>
              </a:rPr>
              <a:t>Registro, login y perfil de mascota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E60B80-28AA-43A1-BA5C-C6D1C712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1333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52B"/>
                </a:solidFill>
              </a:defRPr>
            </a:pPr>
            <a:r>
              <a:rPr sz="1800" b="0">
                <a:solidFill>
                  <a:srgbClr val="20252B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6E1CD1-6CD8-4B0F-8663-EF0212B2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52875"/>
            <a:ext cx="2190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52B"/>
                </a:solidFill>
              </a:defRPr>
            </a:pPr>
            <a:r>
              <a:rPr sz="1800" b="0">
                <a:solidFill>
                  <a:srgbClr val="20252B"/>
                </a:solidFill>
              </a:rPr>
              <a:t>HU04–HU07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649FB0-3CC0-4FD9-BD93-008EFBFE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952875"/>
            <a:ext cx="74485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52B"/>
                </a:solidFill>
              </a:defRPr>
            </a:pPr>
            <a:r>
              <a:rPr sz="1800" b="0">
                <a:solidFill>
                  <a:srgbClr val="20252B"/>
                </a:solidFill>
              </a:rPr>
              <a:t>Carnet, documentos y recordatorios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1056DA-174F-46B1-BDBC-B73945E5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333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52B"/>
                </a:solidFill>
              </a:defRPr>
            </a:pPr>
            <a:r>
              <a:rPr sz="1800" b="0">
                <a:solidFill>
                  <a:srgbClr val="20252B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561BD0-FFF3-4078-962F-EA96F547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38650"/>
            <a:ext cx="2190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52B"/>
                </a:solidFill>
              </a:defRPr>
            </a:pPr>
            <a:r>
              <a:rPr sz="1800" b="0">
                <a:solidFill>
                  <a:srgbClr val="20252B"/>
                </a:solidFill>
              </a:rPr>
              <a:t>HU08–HU10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01D7C8-13DE-4EE6-8716-7CFE529B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38650"/>
            <a:ext cx="74485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52B"/>
                </a:solidFill>
              </a:defRPr>
            </a:pPr>
            <a:r>
              <a:rPr sz="1800" b="0">
                <a:solidFill>
                  <a:srgbClr val="20252B"/>
                </a:solidFill>
              </a:rPr>
              <a:t>Donantes, solicitudes y búsqueda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FEDA93-D907-4C31-BB9A-7786BF27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333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52B"/>
                </a:solidFill>
              </a:defRPr>
            </a:pPr>
            <a:r>
              <a:rPr sz="1800" b="0">
                <a:solidFill>
                  <a:srgbClr val="20252B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D88B35-5E56-45D6-AB41-9BDA4B35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924425"/>
            <a:ext cx="2190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52B"/>
                </a:solidFill>
              </a:defRPr>
            </a:pPr>
            <a:r>
              <a:rPr sz="1800" b="0">
                <a:solidFill>
                  <a:srgbClr val="20252B"/>
                </a:solidFill>
              </a:rPr>
              <a:t>HU11–HU13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4C8D7E-CD5D-4DC7-9B77-A9ADBA52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924425"/>
            <a:ext cx="74485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52B"/>
                </a:solidFill>
              </a:defRPr>
            </a:pPr>
            <a:r>
              <a:rPr sz="1800" b="0">
                <a:solidFill>
                  <a:srgbClr val="20252B"/>
                </a:solidFill>
              </a:rPr>
              <a:t>Notificaciones, contacto y aviso veterinario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74C1CB-B44B-4CFF-A122-A220F796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333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52B"/>
                </a:solidFill>
              </a:defRPr>
            </a:pPr>
            <a:r>
              <a:rPr sz="1800" b="0">
                <a:solidFill>
                  <a:srgbClr val="20252B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829725-52FB-4FE7-9085-E4EBC93F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410200"/>
            <a:ext cx="21907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52B"/>
                </a:solidFill>
              </a:defRPr>
            </a:pPr>
            <a:r>
              <a:rPr sz="1800" b="0">
                <a:solidFill>
                  <a:srgbClr val="20252B"/>
                </a:solidFill>
              </a:rPr>
              <a:t>HU14–HU17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63EA38-E6C9-470F-998D-4EC0560B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410200"/>
            <a:ext cx="74485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5715">
            <a:solidFill>
              <a:srgbClr val="D8E1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0252B"/>
                </a:solidFill>
              </a:defRPr>
            </a:pPr>
            <a:r>
              <a:rPr sz="1800" b="0">
                <a:solidFill>
                  <a:srgbClr val="20252B"/>
                </a:solidFill>
              </a:rPr>
              <a:t>Chat y comunidad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F2B713-B040-4367-B1B6-16459C00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Validar cada escenario y documentar pruebas de integración y usabilidad.</a:t>
            </a:r>
          </a:p>
        </p:txBody>
      </p:sp>
    </p:spTree>
    <p:extLst>
      <p:ext uri="{BB962C8B-B14F-4D97-AF65-F5344CB8AC3E}">
        <p14:creationId xmlns:p14="http://schemas.microsoft.com/office/powerpoint/2010/main" val="1794428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7F858-5EB9-4FC1-840F-781A8C1D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4"/>
                </a:solidFill>
              </a:defRPr>
            </a:pPr>
            <a:r>
              <a:rPr sz="1200" b="0">
                <a:solidFill>
                  <a:srgbClr val="526174"/>
                </a:solidFill>
              </a:rPr>
              <a:t>PROYECTO PETHUB · FASE 1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dc041f15549b6"/>
          <a:stretch xmlns:a="http://schemas.openxmlformats.org/drawingml/2006/main"/>
        </p:blipFill>
        <p:spPr>
          <a:xfrm xmlns:a="http://schemas.openxmlformats.org/drawingml/2006/main">
            <a:off x="8858250" y="211931"/>
            <a:ext cx="2724150" cy="681038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5B22F-656A-4203-978C-231D9CDD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3864"/>
                </a:solidFill>
              </a:defRPr>
            </a:pPr>
            <a:r>
              <a:rPr sz="3000" b="1">
                <a:solidFill>
                  <a:srgbClr val="203864"/>
                </a:solidFill>
              </a:rPr>
              <a:t>Pethub: información y coordinación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A6B75-E577-4E38-819F-96F4449F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74"/>
                </a:solidFill>
              </a:defRPr>
            </a:pPr>
            <a:r>
              <a:rPr sz="1200" b="0">
                <a:solidFill>
                  <a:srgbClr val="526174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436DE-7302-49E2-A070-E8AFDBE1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03864"/>
                </a:solidFill>
              </a:defRPr>
            </a:pPr>
            <a:r>
              <a:rPr sz="2925" b="1">
                <a:solidFill>
                  <a:srgbClr val="203864"/>
                </a:solidFill>
              </a:rPr>
              <a:t>Un carnet sanitario centralizado.</a:t>
            </a:r>
          </a:p>
          <a:p xmlns:a="http://schemas.openxmlformats.org/drawingml/2006/main">
            <a:pPr>
              <a:defRPr sz="2925" b="1">
                <a:solidFill>
                  <a:srgbClr val="203864"/>
                </a:solidFill>
              </a:defRPr>
            </a:pPr>
            <a:r>
              <a:rPr sz="2925" b="1">
                <a:solidFill>
                  <a:srgbClr val="203864"/>
                </a:solidFill>
              </a:rPr>
              <a:t>Una red voluntaria de posibles donantes.</a:t>
            </a:r>
          </a:p>
          <a:p xmlns:a="http://schemas.openxmlformats.org/drawingml/2006/main">
            <a:pPr>
              <a:defRPr sz="2925" b="1">
                <a:solidFill>
                  <a:srgbClr val="203864"/>
                </a:solidFill>
              </a:defRPr>
            </a:pPr>
            <a:r>
              <a:rPr sz="2925" b="1">
                <a:solidFill>
                  <a:srgbClr val="203864"/>
                </a:solidFill>
              </a:rPr>
              <a:t>Un canal para coordinar el contacto.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69930-7A8A-464D-9F0A-2103D7E0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26174"/>
                </a:solidFill>
              </a:defRPr>
            </a:pPr>
            <a:r>
              <a:rPr sz="2100" b="0">
                <a:solidFill>
                  <a:srgbClr val="526174"/>
                </a:solidFill>
              </a:rPr>
              <a:t>El aporte esperado es facilitar la búsqueda y la organización de información, sin sustituir la evaluación veterinaria.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87EBD-BCD1-425E-9F4C-2360E8B7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B9BD5"/>
                </a:solidFill>
              </a:defRPr>
            </a:pPr>
            <a:r>
              <a:rPr sz="2400" b="1">
                <a:solidFill>
                  <a:srgbClr val="5B9BD5"/>
                </a:solidFill>
              </a:rPr>
              <a:t>Preguntas</a:t>
            </a:r>
          </a:p>
        </p:txBody>
      </p:sp>
    </p:spTree>
    <p:extLst>
      <p:ext uri="{BB962C8B-B14F-4D97-AF65-F5344CB8AC3E}">
        <p14:creationId xmlns:p14="http://schemas.microsoft.com/office/powerpoint/2010/main" val="2553386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2026-09-06T14:51:21.0330000Z</dcterms:created>
  <dcterms:modified xsi:type="dcterms:W3CDTF">2026-09-06T14:51:21.0330000Z</dcterms:modified>
</coreProperties>
</file>